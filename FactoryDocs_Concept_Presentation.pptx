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88" r:id="rId2"/>
    <p:sldId id="257" r:id="rId3"/>
    <p:sldId id="268" r:id="rId4"/>
    <p:sldId id="294" r:id="rId26"/>
    <p:sldId id="258" r:id="rId5"/>
    <p:sldId id="283" r:id="rId6"/>
    <p:sldId id="261" r:id="rId8"/>
    <p:sldId id="267" r:id="rId9"/>
    <p:sldId id="269" r:id="rId7"/>
    <p:sldId id="285" r:id="rId10"/>
    <p:sldId id="284" r:id="rId11"/>
    <p:sldId id="287" r:id="rId12"/>
    <p:sldId id="286" r:id="rId13"/>
    <p:sldId id="290" r:id="rId22"/>
    <p:sldId id="289" r:id="rId14"/>
    <p:sldId id="291" r:id="rId23"/>
    <p:sldId id="292" r:id="rId24"/>
    <p:sldId id="293" r:id="rId25"/>
    <p:sldId id="280" r:id="rId15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C257CF-8ED9-F8E9-8E7C-C6A1BBAC3586}" v="96" dt="2025-10-15T11:28:08.689"/>
    <p1510:client id="{74BE93E2-CB97-350E-30CA-317D942E1F3B}" v="10" dt="2025-10-14T12:07:19.989"/>
    <p1510:client id="{952EF88F-4116-97A5-4962-1230BBCC7DA2}" v="178" dt="2025-10-14T09:32:46.859"/>
    <p1510:client id="{A61D329E-F635-F544-B702-D2E6BAF2BA0F}" v="635" dt="2025-10-15T09:04:55.6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83082" autoAdjust="0"/>
  </p:normalViewPr>
  <p:slideViewPr>
    <p:cSldViewPr snapToGrid="0">
      <p:cViewPr varScale="1">
        <p:scale>
          <a:sx n="71" d="100"/>
          <a:sy n="71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22" Type="http://schemas.openxmlformats.org/officeDocument/2006/relationships/slide" Target="slides/slide15.xml"/>
  <Relationship Id="rId23" Type="http://schemas.openxmlformats.org/officeDocument/2006/relationships/slide" Target="slides/slide16.xml"/>
  <Relationship Id="rId24" Type="http://schemas.openxmlformats.org/officeDocument/2006/relationships/slide" Target="slides/slide17.xml"/>
  <Relationship Id="rId25" Type="http://schemas.openxmlformats.org/officeDocument/2006/relationships/slide" Target="slides/slide18.xml"/>
  <Relationship Id="rId26" Type="http://schemas.openxmlformats.org/officeDocument/2006/relationships/slide" Target="slides/slide1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A21334-BA66-DB40-BAF6-2B22C7723DD9}" type="datetimeFigureOut">
              <a:rPr lang="en-DE" smtClean="0"/>
              <a:t>10/16/2025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A0CC56-9DE8-D644-BF20-88B4C0DB730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31100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A0CC56-9DE8-D644-BF20-88B4C0DB7302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5242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2A0CC56-9DE8-D644-BF20-88B4C0DB7302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5459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CF021-9AC3-A873-381C-DBFC05B19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4D7EC-6994-957D-2A01-DCB87CCF3D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FD942-DF23-1A44-D504-138F3462D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B69FA-CB31-4225-8774-6201BA3B2654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E6FE0F-0E75-585C-1AF5-83CD09B1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0C001-62E2-3BC7-6DFF-B928C2114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4913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DFA60-504B-B09D-6E7C-2CE95DBA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34484-0429-5854-48E9-018D347D1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237F0-A7BE-6F98-DEEE-1C1C77E75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736C7-67DF-4B04-A94D-56841F34FA11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5E9CA-47A3-F710-09B6-830B38448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C71812-C4F9-6696-CCAD-83F0CE21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3727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BAB00-9207-B88D-5557-1884728BB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89B0A-B9F2-1ADA-F387-6EFFA66917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E4DD4B-D839-37D2-7096-1A4BDEA51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DF760-44DB-4C6C-B540-17589643C014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81A67-B777-D9B2-BA1B-DBBEE6696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F9D5E-560E-F104-0805-81B4BE500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55363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A143A-560A-8222-4C1C-83F8A3059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91511-E66D-F6DD-12D6-A55C02181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B5F0B-EC5E-DEF8-361B-12ABE25CC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B34199-0951-4AC9-FFD9-A4F55FE6B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69799-BFC0-42F4-AFE1-0D176C544888}" type="datetime1">
              <a:rPr lang="en-US" smtClean="0"/>
              <a:t>10/16/2025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08F80-FC68-6E9C-D814-00AFB72AA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2C4074-035A-B3F6-B6F3-CC327C7BA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72984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055A6-0864-D91F-A040-ADEF8284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24FD7-BF98-7C3E-4735-0CCDC1E89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9B93A5-41BB-151F-F955-CDC06226C5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2B36DC-B91C-50C2-84BA-FC757DDF2E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BE8B91-83E8-2A21-0A2E-4F520384B6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989513-021B-5B5F-2AB4-7A830D93E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BB2E0-D036-4586-BA61-E1F0645B7038}" type="datetime1">
              <a:rPr lang="en-US" smtClean="0"/>
              <a:t>10/16/2025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42DEEC-C9D9-6284-D428-F233CA168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7B4F18-C3A3-895B-8A04-2B7197CD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09929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03C5-78C3-4B87-31A8-6B5ED20DC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FB6E1A-2FE3-FA81-59E7-30D1B74D2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6FBF3-05C0-4410-97F4-1F241ADD1A85}" type="datetime1">
              <a:rPr lang="en-US" smtClean="0"/>
              <a:t>10/16/2025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E7C422-EE22-42BC-A9CF-64D85DBF0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83996-3544-F68A-D3F7-6C91AD12A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372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F77BB8-964E-F819-2378-F0F49C870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4B69B-925F-406A-BB2E-3A95A65DA62D}" type="datetime1">
              <a:rPr lang="en-US" smtClean="0"/>
              <a:t>10/16/2025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5B863-7262-5B41-6721-635E04116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99EC5-7ACA-0E4A-052C-54CF19D3B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05004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29544-9012-6916-7216-1E606F48A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FD2A6-81DE-F306-A979-72AAC629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1ED4FB-2779-E553-48F4-CCBA603F0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28CB4-E490-03ED-6DB7-05D10D6D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F6A95-D498-467B-842C-6A1180EBCC0A}" type="datetime1">
              <a:rPr lang="en-US" smtClean="0"/>
              <a:t>10/16/2025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20B77-B289-F0F8-426E-50F17A1FD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51D3E-8F02-F982-64A3-82A8914FA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37379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4F2A5-14F0-E216-CBC1-BC3A6BA2F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A5A376-47AE-1EB9-9A8A-53F5BBE31A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BDCF7B-5473-F74F-8E6A-F7428E218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667CAD-A79D-ED34-811D-4D4D686D4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D1015-35EE-49F2-9BC3-B1261FA7ADDE}" type="datetime1">
              <a:rPr lang="en-US" smtClean="0"/>
              <a:t>10/16/2025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EA400-CB25-4425-DFCE-825312DA9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21745F-9DA2-63B9-14BD-AE1E238F5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97102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F151C-685E-BA32-DCAE-BDFB675F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DE237A-A308-C300-76A7-C3701B5672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ADC08-2726-85F5-B9B2-51F71E18C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D8917-A7C1-41B8-BFAE-465241F9C3D4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A535EF-45D9-697A-EF75-7B87801AD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23F17E-50FE-78BD-16EC-27BA42F55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256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8D65B6-5E97-8525-5C36-89CB178B94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DDD5C-0FC5-9294-8CF4-AFFD4DA1FF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82AB4-2DDB-0B80-7B18-ACDF3011D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C972F-C4A1-4882-B997-9AB6AD1D6520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7FB16-C188-3AC8-C546-B306BB250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A3093-6DA8-3806-CD62-A67FCC32B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938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C0B582-E83B-8C6B-62D6-2E4423FA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65E92-A2CD-0EFD-35CD-E030D056CF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B45A36-C7D9-600D-038B-5FE45C075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BD3CE-29AB-4F97-9A20-DAADF5E3AA7A}" type="datetime1">
              <a:rPr lang="en-US" smtClean="0"/>
              <a:t>10/16/2025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0AA2-07B6-2B36-266E-95F1C306F7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Case Study Integration and Comparison of vision models for smart inspection cell </a:t>
            </a:r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FD303-8AD8-26D9-AAD0-BD7982556E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ABFBA2-1CB6-1F4E-9BB3-885A90BDAFD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5735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Git" Type="http://schemas.openxmlformats.org/officeDocument/2006/relationships/hyperlink" Target="https://github.com/Shilpa-Golla/FactoryDocs-Assistant-A-Retrieval-Augmented-Chatbot-for-Production-and-Logistics-Manuals" TargetMode="Externa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Cell" Type="http://schemas.openxmlformats.org/officeDocument/2006/relationships/image" Target="../media/image_cell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0000" y="250000"/>
            <a:ext cx="10800000" cy="1750000"/>
          </a:xfrm>
        </p:spPr>
        <p:txBody>
          <a:bodyPr anchor="b">
            <a:normAutofit/>
          </a:bodyPr>
          <a:lstStyle/>
          <a:p>
            <a:pPr algn="ctr"/>
            <a:r>
              <a:rPr lang="en-US" sz="3200" b="1" dirty="0">
                <a:latin typeface="Times New Roman"/>
                <a:cs typeface="Times New Roman"/>
              </a:rPr>
              <a:t>FactoryDocs Assistant: A Retrieval-Augmented Chatbot for Robot Error Diagnosis in Production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495981" y="2121137"/>
            <a:ext cx="3416075" cy="1066200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522514" y="4000000"/>
            <a:ext cx="7300000" cy="2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b="1" dirty="0">
                <a:latin typeface="Times New Roman"/>
                <a:cs typeface="Times New Roman"/>
              </a:rPr>
              <a:t>Team Members: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latin typeface="Times New Roman"/>
                <a:cs typeface="Times New Roman"/>
              </a:rPr>
              <a:t>Divi Teja Dimmiti (Team Lead – RAG pipeline &amp; LLM integration)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latin typeface="Times New Roman"/>
                <a:cs typeface="Times New Roman"/>
              </a:rPr>
              <a:t>Shilpa Golla (PDF extraction &amp; LLM integration)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800" dirty="0">
                <a:latin typeface="Times New Roman"/>
                <a:cs typeface="Times New Roman"/>
              </a:rPr>
              <a:t>Vijay Boyapati (Evaluation &amp; Streamlit demo)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 dirty="0">
                <a:latin typeface="Times New Roman"/>
                <a:cs typeface="Times New Roman"/>
              </a:rPr>
              <a:t>Test set: shared by all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00000" y="3350000"/>
            <a:ext cx="340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latin typeface="Times New Roman"/>
                <a:cs typeface="Times New Roman"/>
              </a:rPr>
              <a:t>Concept Presentation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00000" y="4700000"/>
            <a:ext cx="35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b="1" dirty="0">
                <a:latin typeface="Times New Roman"/>
                <a:cs typeface="Times New Roman"/>
              </a:rPr>
              <a:t>Guided by: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cs typeface="Times New Roman"/>
              </a:rPr>
              <a:t>Hamidreza Heidari, PhD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Introduction: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601884" y="1450000"/>
            <a:ext cx="10900000" cy="47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2000" dirty="0">
                <a:latin typeface="Times New Roman"/>
                <a:cs typeface="Times New Roman"/>
              </a:rPr>
              <a:t>In a production line, every minute a machine stands still means lost output. Unplanned downtime costs the world’s 500 largest companies about $1.4 trillion per year, ~11% of revenue [7]. Collaborative robots like the Universal Robots UR5e load CNC machines and pick and place parts; when the robot stops with an error code, the connected machine and material flow stop too.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b="1" dirty="0">
                <a:latin typeface="Times New Roman"/>
                <a:cs typeface="Times New Roman"/>
              </a:rPr>
              <a:t>Key motivations:</a:t>
            </a:r>
          </a:p>
          <a:p>
            <a:pPr marL="285750" indent="-28575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The cause and fix are spread over several long manuals</a:t>
            </a:r>
          </a:p>
          <a:p>
            <a:pPr marL="285750" indent="-28575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Workers describe problems in their own words, which Ctrl+F cannot match</a:t>
            </a:r>
          </a:p>
          <a:p>
            <a:pPr marL="285750" indent="-285750" algn="l">
              <a:spcBef>
                <a:spcPts val="0"/>
              </a:spcBef>
              <a:spcAft>
                <a:spcPts val="7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General AI chatbots can give confident but wrong answers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400" b="1" dirty="0">
                <a:latin typeface="Times New Roman"/>
                <a:cs typeface="Times New Roman"/>
              </a:rPr>
              <a:t>Real-World Problem: Robot Stops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601884" y="1350000"/>
            <a:ext cx="10900000" cy="1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Protective stop: </a:t>
            </a:r>
            <a:r>
              <a:rPr lang="en-US" sz="1800" dirty="0">
                <a:latin typeface="Times New Roman"/>
                <a:cs typeface="Times New Roman"/>
              </a:rPr>
              <a:t>the robot stops itself for safety and shows a code, e.g., C153 (position deviates from path) or C157 (collision detected by joint).</a:t>
            </a:r>
          </a:p>
          <a:p>
            <a:pPr marL="0" indent="0" algn="l">
              <a:spcBef>
                <a:spcPts val="0"/>
              </a:spcBef>
              <a:spcAft>
                <a:spcPts val="25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Common causes: </a:t>
            </a:r>
            <a:r>
              <a:rPr lang="en-US" sz="1800" dirty="0">
                <a:latin typeface="Times New Roman"/>
                <a:cs typeface="Times New Roman"/>
              </a:rPr>
              <a:t>wrong payload setting, collisions, external cables dragging, very high accelerations [8].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UR rule: </a:t>
            </a:r>
            <a:r>
              <a:rPr lang="en-US" sz="1800" dirty="0">
                <a:latin typeface="Times New Roman"/>
                <a:cs typeface="Times New Roman"/>
              </a:rPr>
              <a:t>a protective stop shall not be reset without a review of the fault’s root cause [8].</a:t>
            </a: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601884" y="3100000"/>
          <a:ext cx="10899998" cy="25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816666"/>
                <a:gridCol w="4541666"/>
                <a:gridCol w="4541666"/>
              </a:tblGrid>
              <a:tr h="50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Today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With FactoryDocs Assistant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Find meaning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Search the error code directory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Type the code, get the meaning</a:t>
                      </a:r>
                    </a:p>
                  </a:txBody>
                  <a:tcPr marL="91440" marR="91440" marT="45720" marB="45720" anchor="ctr"/>
                </a:tc>
              </a:tr>
              <a:tr h="500000"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Find cause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Check several manuals, call a technician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Likely causes from all four manuals</a:t>
                      </a:r>
                    </a:p>
                  </a:txBody>
                  <a:tcPr marL="91440" marR="91440" marT="45720" marB="45720" anchor="ctr"/>
                </a:tc>
              </a:tr>
              <a:tr h="500000"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Fix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Trial and error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Fix steps with source pages</a:t>
                      </a:r>
                    </a:p>
                  </a:txBody>
                  <a:tcPr marL="91440" marR="91440" marT="45720" marB="45720" anchor="ctr"/>
                </a:tc>
              </a:tr>
              <a:tr h="500000"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Effect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Robot, CNC and material flow wait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dirty="0">
                          <a:latin typeface="Times New Roman"/>
                          <a:cs typeface="Times New Roman"/>
                        </a:rPr>
                        <a:t>Faster restart, root cause documented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Project Scope: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601884" y="1350000"/>
            <a:ext cx="10900000" cy="48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b="1" dirty="0">
                <a:latin typeface="Times New Roman"/>
                <a:cs typeface="Times New Roman"/>
              </a:rPr>
              <a:t>Aim:</a:t>
            </a:r>
          </a:p>
          <a:p>
            <a:pPr marL="0" indent="0" algn="l">
              <a:spcBef>
                <a:spcPts val="0"/>
              </a:spcBef>
              <a:spcAft>
                <a:spcPts val="700"/>
              </a:spcAft>
              <a:buNone/>
            </a:pPr>
            <a:r>
              <a:rPr lang="en-US" sz="1900" dirty="0">
                <a:latin typeface="Times New Roman"/>
                <a:cs typeface="Times New Roman"/>
              </a:rPr>
              <a:t>Build and evaluate a local chatbot that diagnoses UR5e robot errors from the error code or a problem description, answering only from the robot and gripper manuals with source pages, and saying “I don’t know” otherwise.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b="1" dirty="0">
                <a:latin typeface="Times New Roman"/>
                <a:cs typeface="Times New Roman"/>
              </a:rPr>
              <a:t>Includes: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Text and table extraction from four public UR5e / gripper manuals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Keyword (BM25), meaning-based and hybrid search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Local LLM answers with page citations and refusal when unsure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60-question test set, evaluation and Streamlit chat demo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800" dirty="0">
                <a:latin typeface="Times New Roman"/>
                <a:cs typeface="Times New Roman"/>
              </a:rPr>
              <a:t> 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b="1" dirty="0">
                <a:latin typeface="Times New Roman"/>
                <a:cs typeface="Times New Roman"/>
              </a:rPr>
              <a:t>Out of Scope (Current Phase):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Live connection to a physical robot or factory systems (MES/ERP)</a:t>
            </a:r>
          </a:p>
          <a:p>
            <a:pPr marL="285750" indent="-285750" algn="l">
              <a:spcBef>
                <a:spcPts val="0"/>
              </a:spcBef>
              <a:spcAft>
                <a:spcPts val="150"/>
              </a:spcAft>
              <a:buFont typeface="Arial"/>
              <a:buChar char="•"/>
            </a:pPr>
            <a:r>
              <a:rPr lang="en-US" sz="1900" dirty="0">
                <a:latin typeface="Times New Roman"/>
                <a:cs typeface="Times New Roman"/>
              </a:rPr>
              <a:t>Images and drawings inside manuals; fine-tuning the language model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Objectives: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601884" y="1700000"/>
            <a:ext cx="10900000" cy="4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lang="en-US" sz="2200" dirty="0">
                <a:latin typeface="Times New Roman"/>
                <a:cs typeface="Times New Roman"/>
              </a:rPr>
              <a:t>Build a reproducible RAG pipeline over four UR5e robot and gripper manuals.</a:t>
            </a:r>
          </a:p>
          <a:p>
            <a:pPr marL="285750" indent="-285750" algn="l"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lang="en-US" sz="2200" dirty="0">
                <a:latin typeface="Times New Roman"/>
                <a:cs typeface="Times New Roman"/>
              </a:rPr>
              <a:t>Handle both exact error codes and problem descriptions in the worker’s own words.</a:t>
            </a:r>
          </a:p>
          <a:p>
            <a:pPr marL="285750" indent="-285750" algn="l"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lang="en-US" sz="2200" dirty="0">
                <a:latin typeface="Times New Roman"/>
                <a:cs typeface="Times New Roman"/>
              </a:rPr>
              <a:t>Compare four approaches: plain LLM, BM25 RAG, dense RAG and hybrid RAG.</a:t>
            </a:r>
          </a:p>
          <a:p>
            <a:pPr marL="285750" indent="-285750" algn="l">
              <a:spcBef>
                <a:spcPts val="0"/>
              </a:spcBef>
              <a:spcAft>
                <a:spcPts val="1300"/>
              </a:spcAft>
              <a:buFont typeface="Arial"/>
              <a:buChar char="•"/>
            </a:pPr>
            <a:r>
              <a:rPr lang="en-US" sz="2200" dirty="0">
                <a:latin typeface="Times New Roman"/>
                <a:cs typeface="Times New Roman"/>
              </a:rPr>
              <a:t>Deliver a Streamlit chat demo that shows the source page for every answer.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6677" y="0"/>
            <a:ext cx="8000000" cy="1107582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Project flow chart:</a:t>
            </a:r>
          </a:p>
        </p:txBody>
      </p:sp>
      <p:sp>
        <p:nvSpPr>
          <p:cNvPr id="11" name="Step 11"/>
          <p:cNvSpPr txBox="1"/>
          <p:nvPr/>
        </p:nvSpPr>
        <p:spPr>
          <a:xfrm>
            <a:off x="1796000" y="1120000"/>
            <a:ext cx="8600000" cy="6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DATA COLLECTION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4 UR5e manuals: error codes, user manual, gripper, service handbook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6096000" y="1780000"/>
            <a:ext cx="0" cy="210000"/>
          </a:xfrm>
          <a:prstGeom prst="straightConnector1">
            <a:avLst/>
          </a:prstGeom>
          <a:ln w="22225">
            <a:solidFill>
              <a:srgbClr val="000000"/>
            </a:solidFill>
            <a:tailEnd type="triangle" w="med" len="med"/>
          </a:ln>
        </p:spPr>
      </p:cxnSp>
      <p:sp>
        <p:nvSpPr>
          <p:cNvPr id="13" name="Step 13"/>
          <p:cNvSpPr txBox="1"/>
          <p:nvPr/>
        </p:nvSpPr>
        <p:spPr>
          <a:xfrm>
            <a:off x="1796000" y="1990000"/>
            <a:ext cx="8600000" cy="6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TEXT &amp; TABLE EXTRACTION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pdfplumber extracts text and tables, page numbers kept</a:t>
            </a:r>
          </a:p>
        </p:txBody>
      </p:sp>
      <p:cxnSp>
        <p:nvCxnSpPr>
          <p:cNvPr id="14" name="Arrow 14"/>
          <p:cNvCxnSpPr/>
          <p:nvPr/>
        </p:nvCxnSpPr>
        <p:spPr>
          <a:xfrm>
            <a:off x="6096000" y="2650000"/>
            <a:ext cx="0" cy="210000"/>
          </a:xfrm>
          <a:prstGeom prst="straightConnector1">
            <a:avLst/>
          </a:prstGeom>
          <a:ln w="22225">
            <a:solidFill>
              <a:srgbClr val="000000"/>
            </a:solidFill>
            <a:tailEnd type="triangle" w="med" len="med"/>
          </a:ln>
        </p:spPr>
      </p:cxnSp>
      <p:sp>
        <p:nvSpPr>
          <p:cNvPr id="15" name="Step 15"/>
          <p:cNvSpPr txBox="1"/>
          <p:nvPr/>
        </p:nvSpPr>
        <p:spPr>
          <a:xfrm>
            <a:off x="1796000" y="2860000"/>
            <a:ext cx="8600000" cy="6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CHUNKING &amp; INDEXING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Page-tagged chunks; embeddings in FAISS + BM25 keyword index</a:t>
            </a:r>
          </a:p>
        </p:txBody>
      </p:sp>
      <p:cxnSp>
        <p:nvCxnSpPr>
          <p:cNvPr id="16" name="Arrow 16"/>
          <p:cNvCxnSpPr/>
          <p:nvPr/>
        </p:nvCxnSpPr>
        <p:spPr>
          <a:xfrm>
            <a:off x="6096000" y="3520000"/>
            <a:ext cx="0" cy="210000"/>
          </a:xfrm>
          <a:prstGeom prst="straightConnector1">
            <a:avLst/>
          </a:prstGeom>
          <a:ln w="22225">
            <a:solidFill>
              <a:srgbClr val="000000"/>
            </a:solidFill>
            <a:tailEnd type="triangle" w="med" len="med"/>
          </a:ln>
        </p:spPr>
      </p:cxnSp>
      <p:sp>
        <p:nvSpPr>
          <p:cNvPr id="17" name="Step 17"/>
          <p:cNvSpPr txBox="1"/>
          <p:nvPr/>
        </p:nvSpPr>
        <p:spPr>
          <a:xfrm>
            <a:off x="1796000" y="3730000"/>
            <a:ext cx="8600000" cy="66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RETRIEVAL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Hybrid search: exact error codes + problem descriptions</a:t>
            </a:r>
          </a:p>
        </p:txBody>
      </p:sp>
      <p:cxnSp>
        <p:nvCxnSpPr>
          <p:cNvPr id="18" name="Arrow 18"/>
          <p:cNvCxnSpPr/>
          <p:nvPr/>
        </p:nvCxnSpPr>
        <p:spPr>
          <a:xfrm>
            <a:off x="6096000" y="4390000"/>
            <a:ext cx="0" cy="210000"/>
          </a:xfrm>
          <a:prstGeom prst="straightConnector1">
            <a:avLst/>
          </a:prstGeom>
          <a:ln w="22225">
            <a:solidFill>
              <a:srgbClr val="000000"/>
            </a:solidFill>
            <a:tailEnd type="triangle" w="med" len="med"/>
          </a:ln>
        </p:spPr>
      </p:cxnSp>
      <p:sp>
        <p:nvSpPr>
          <p:cNvPr id="19" name="Step 19"/>
          <p:cNvSpPr txBox="1"/>
          <p:nvPr/>
        </p:nvSpPr>
        <p:spPr>
          <a:xfrm>
            <a:off x="1796000" y="4600000"/>
            <a:ext cx="8600000" cy="6600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ANSWER GENERATION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Local LLM: meaning, cause, fix + source page, or “I don’t know”</a:t>
            </a:r>
          </a:p>
        </p:txBody>
      </p:sp>
      <p:cxnSp>
        <p:nvCxnSpPr>
          <p:cNvPr id="20" name="Arrow 20"/>
          <p:cNvCxnSpPr/>
          <p:nvPr/>
        </p:nvCxnSpPr>
        <p:spPr>
          <a:xfrm>
            <a:off x="6096000" y="5260000"/>
            <a:ext cx="0" cy="210000"/>
          </a:xfrm>
          <a:prstGeom prst="straightConnector1">
            <a:avLst/>
          </a:prstGeom>
          <a:ln w="22225">
            <a:solidFill>
              <a:srgbClr val="000000"/>
            </a:solidFill>
            <a:tailEnd type="triangle" w="med" len="med"/>
          </a:ln>
        </p:spPr>
      </p:cxnSp>
      <p:sp>
        <p:nvSpPr>
          <p:cNvPr id="21" name="Step 21"/>
          <p:cNvSpPr txBox="1"/>
          <p:nvPr/>
        </p:nvSpPr>
        <p:spPr>
          <a:xfrm>
            <a:off x="1796000" y="5470000"/>
            <a:ext cx="8600000" cy="66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EVALUATION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60-question test set, 4 approaches compared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Input and Output: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01884" y="1450000"/>
          <a:ext cx="10900000" cy="32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180000"/>
                <a:gridCol w="4360000"/>
                <a:gridCol w="4360000"/>
              </a:tblGrid>
              <a:tr h="80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Example input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Output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8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Error code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“C157A2”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Meaning of the error, likely causes, fix steps, source pages</a:t>
                      </a:r>
                    </a:p>
                  </a:txBody>
                  <a:tcPr marL="91440" marR="91440" marT="45720" marB="45720" anchor="ctr"/>
                </a:tc>
              </a:tr>
              <a:tr h="8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Problem description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“The robot keeps dropping parts”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Likely causes (e.g., gripper or payload), checks and fixes, source pages</a:t>
                      </a:r>
                    </a:p>
                  </a:txBody>
                  <a:tcPr marL="91440" marR="91440" marT="45720" marB="45720" anchor="ctr"/>
                </a:tc>
              </a:tr>
              <a:tr h="8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Not in the manuals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“What is the warranty period?”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“I don’t know” instead of guessing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601884" y="4900000"/>
            <a:ext cx="109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Every answer comes only from the manuals and cites the page, so the worker can verify it.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400" b="1" dirty="0">
                <a:latin typeface="Times New Roman"/>
                <a:cs typeface="Times New Roman"/>
              </a:rPr>
              <a:t>Data: Four Public Manuals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01884" y="1450000"/>
          <a:ext cx="10900000" cy="325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488000"/>
                <a:gridCol w="5232000"/>
                <a:gridCol w="2180000"/>
              </a:tblGrid>
              <a:tr h="65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Document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What it gives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65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UR Error Codes Directory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Meaning and suggested fix for robot error codes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Universal Robots</a:t>
                      </a:r>
                    </a:p>
                  </a:txBody>
                  <a:tcPr marL="91440" marR="91440" marT="45720" marB="45720" anchor="ctr"/>
                </a:tc>
              </a:tr>
              <a:tr h="65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UR5e User Manual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Robot settings, e.g., payload and safety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Universal Robots</a:t>
                      </a:r>
                    </a:p>
                  </a:txBody>
                  <a:tcPr marL="91440" marR="91440" marT="45720" marB="45720" anchor="ctr"/>
                </a:tc>
              </a:tr>
              <a:tr h="65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Robotiq 2F-85 / 2F-140 Manual (for UR)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Gripper problems, e.g., dropped parts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Robotiq</a:t>
                      </a:r>
                    </a:p>
                  </a:txBody>
                  <a:tcPr marL="91440" marR="91440" marT="45720" marB="45720" anchor="ctr"/>
                </a:tc>
              </a:tr>
              <a:tr h="65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UR e-Series Service Handbook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Repair and troubleshooting steps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Universal Robots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601884" y="4900000"/>
            <a:ext cx="109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dirty="0">
                <a:latin typeface="Times New Roman"/>
                <a:cs typeface="Times New Roman"/>
              </a:rPr>
              <a:t>All four are public PDFs. They are not uploaded to GitHub (copyright); the repository shares download links only.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Working Methodology: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711200" y="1300000"/>
            <a:ext cx="10800000" cy="49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1900" b="1" dirty="0">
                <a:latin typeface="Times New Roman"/>
                <a:cs typeface="Times New Roman"/>
              </a:rPr>
              <a:t>Step 1: Data Preparation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Download the four manuals; extract text and tables with page numbers.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Split into small chunks tagged with manual name and page.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" dirty="0">
                <a:latin typeface="Times New Roman"/>
                <a:cs typeface="Times New Roman"/>
              </a:rPr>
              <a:t> 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1900" b="1" dirty="0">
                <a:latin typeface="Times New Roman"/>
                <a:cs typeface="Times New Roman"/>
              </a:rPr>
              <a:t>Step 2: Retrieval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Baseline: keyword search (BM25). Then meaning-based search (sentence-transformers + FAISS).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Hybrid search combines both: exact codes like C157A2 and free-text problems.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" dirty="0">
                <a:latin typeface="Times New Roman"/>
                <a:cs typeface="Times New Roman"/>
              </a:rPr>
              <a:t> 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1900" b="1" dirty="0">
                <a:latin typeface="Times New Roman"/>
                <a:cs typeface="Times New Roman"/>
              </a:rPr>
              <a:t>Step 3: Answer Generation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Local LLM (Ollama) answers only from retrieved chunks and cites the pages.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If the answer is not in the chunks, it replies “I don’t know”.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" dirty="0">
                <a:latin typeface="Times New Roman"/>
                <a:cs typeface="Times New Roman"/>
              </a:rPr>
              <a:t> </a:t>
            </a:r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US" sz="1900" b="1" dirty="0">
                <a:latin typeface="Times New Roman"/>
                <a:cs typeface="Times New Roman"/>
              </a:rPr>
              <a:t>Step 4: Evaluation and Comparison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60 questions in 5 types: error code, problem description, multi-document, procedure, unanswerable.</a:t>
            </a:r>
          </a:p>
          <a:p>
            <a:pPr marL="285750" indent="-285750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700" dirty="0">
                <a:latin typeface="Times New Roman"/>
                <a:cs typeface="Times New Roman"/>
              </a:rPr>
              <a:t>Scored by two members with a rubric, checked with RAGAS; four approaches compared.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" dirty="0">
                <a:latin typeface="Times New Roman"/>
                <a:cs typeface="Times New Roman"/>
              </a:rPr>
              <a:t> 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Technology Stack: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36610" y="1450000"/>
          <a:ext cx="10400000" cy="43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04000"/>
                <a:gridCol w="3536000"/>
                <a:gridCol w="4160000"/>
              </a:tblGrid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Process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Tool / Framework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Purpose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PDF Extraction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pdfplumber (PyMuPDF backup)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Text and tables with page numbers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Embeddings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sentence-transformers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Turn text chunks into meaning vectors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Vector Search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FAISS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Meaning-based search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Keyword Search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rank-bm25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Exact terms such as error codes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Language Model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Ollama (e.g., Llama 3 8B)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Local answers, no cloud needed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Evaluation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pandas, RAGAS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Metrics and faithfulness scores</a:t>
                      </a:r>
                    </a:p>
                  </a:txBody>
                  <a:tcPr marL="91440" marR="91440" marT="45720" marB="45720" anchor="ctr"/>
                </a:tc>
              </a:tr>
              <a:tr h="54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Demo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Streamlit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Chat window showing source pages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What We Compare: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01884" y="1450000"/>
          <a:ext cx="10900000" cy="30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452500"/>
                <a:gridCol w="8447500"/>
              </a:tblGrid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Description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1. Plain LLM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No retrieval; answers from the model’s memory (shows hallucination risk)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2. BM25 RAG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Keyword search baseline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3. Dense RAG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Meaning-based search with sentence embeddings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4. Hybrid RAG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BM25 + dense combined: exact error codes and problem descriptions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601884" y="4650000"/>
            <a:ext cx="10900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Why not Ctrl+F or ChatGPT? </a:t>
            </a:r>
            <a:r>
              <a:rPr lang="en-US" sz="1800" dirty="0">
                <a:latin typeface="Times New Roman"/>
                <a:cs typeface="Times New Roman"/>
              </a:rPr>
              <a:t>Ctrl+F needs the exact words in the manual; a plain chatbot answers from memory, without a source. We don’t build a new LLM, we make one reliable for the shop floor and prove it on the same test set.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Evaluation KPIs: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01884" y="1450000"/>
          <a:ext cx="10899998" cy="300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82978"/>
                <a:gridCol w="5334042"/>
                <a:gridCol w="2782978"/>
              </a:tblGrid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KPI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What it measures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Target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Retrieval hit rate@5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Correct page is among the top 5 chunks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≥ 80%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Answer accuracy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Answer judged correct (3-level rubric, 2 reviewers)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≥ 75%, beats baselines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Refusal rate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“I don’t know” on unanswerable questions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≥ 80%</a:t>
                      </a:r>
                    </a:p>
                  </a:txBody>
                  <a:tcPr marL="91440" marR="91440" marT="45720" marB="45720" anchor="ctr"/>
                </a:tc>
              </a:tr>
              <a:tr h="600000"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Response time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Median seconds per answer on a laptop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≤ 10 s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601884" y="4650000"/>
            <a:ext cx="10900000" cy="13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800" b="1" dirty="0">
                <a:latin typeface="Times New Roman"/>
                <a:cs typeface="Times New Roman"/>
              </a:rPr>
              <a:t>Test set: </a:t>
            </a:r>
            <a:r>
              <a:rPr lang="en-US" sz="1800" dirty="0">
                <a:latin typeface="Times New Roman"/>
                <a:cs typeface="Times New Roman"/>
              </a:rPr>
              <a:t>60 team-written questions: error code · problem description · multi-document · procedure · unanswerable.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1" dirty="0">
                <a:latin typeface="Times New Roman"/>
                <a:cs typeface="Times New Roman"/>
              </a:rPr>
              <a:t>Targets are our goals; final values will come from the experiments.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Gantt Table"/>
          <p:cNvGraphicFramePr>
            <a:graphicFrameLocks noGrp="1"/>
          </p:cNvGraphicFramePr>
          <p:nvPr/>
        </p:nvGraphicFramePr>
        <p:xfrm>
          <a:off x="0" y="856193"/>
          <a:ext cx="12192013" cy="5440000"/>
        </p:xfrm>
        <a:graphic>
          <a:graphicData uri="http://schemas.openxmlformats.org/drawingml/2006/table">
            <a:tbl>
              <a:tblPr bandRow="1">
                <a:tableStyleId>{00A15C55-8517-42AA-B614-E9B94910E393}</a:tableStyleId>
              </a:tblPr>
              <a:tblGrid>
                <a:gridCol w="2533754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  <a:gridCol w="742943"/>
              </a:tblGrid>
              <a:tr h="880000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(Oct) Week 43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44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(Nov) Week 45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46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47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48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(Dec) Week 49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50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51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52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53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(Jan) Week 01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/>
                          <a:cs typeface="Times New Roman"/>
                        </a:rPr>
                        <a:t>Week 02</a:t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Proposal &amp; literature review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PDF extraction + BM25 baseline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Embeddings, FAISS, plain-LLM baseline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Test set, hybrid search, comparison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Streamlit demo, video, run guide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  <a:tr h="760000">
                <a:tc>
                  <a:txBody>
                    <a:bodyPr/>
                    <a:lstStyle/>
                    <a:p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Final report &amp; presentation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Times New Roman"/>
                          <a:cs typeface="Times New Roman"/>
                        </a:rPr>
                        <a:t/>
                      </a:r>
                    </a:p>
                  </a:txBody>
                  <a:tcPr marL="45720" marR="45720" anchor="ctr"/>
                </a:tc>
              </a:tr>
            </a:tbl>
          </a:graphicData>
        </a:graphic>
      </p:graphicFrame>
      <p:sp>
        <p:nvSpPr>
          <p:cNvPr id="12" name="Bar 12"/>
          <p:cNvSpPr/>
          <p:nvPr/>
        </p:nvSpPr>
        <p:spPr>
          <a:xfrm>
            <a:off x="2593754" y="1920250"/>
            <a:ext cx="2108829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3" name="Bar 13"/>
          <p:cNvSpPr/>
          <p:nvPr/>
        </p:nvSpPr>
        <p:spPr>
          <a:xfrm>
            <a:off x="2593754" y="2680250"/>
            <a:ext cx="2108829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4" name="Bar 14"/>
          <p:cNvSpPr/>
          <p:nvPr/>
        </p:nvSpPr>
        <p:spPr>
          <a:xfrm>
            <a:off x="4079640" y="3440250"/>
            <a:ext cx="2851772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5" name="Bar 15"/>
          <p:cNvSpPr/>
          <p:nvPr/>
        </p:nvSpPr>
        <p:spPr>
          <a:xfrm>
            <a:off x="4822583" y="4200250"/>
            <a:ext cx="3594715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6" name="Bar 16"/>
          <p:cNvSpPr/>
          <p:nvPr/>
        </p:nvSpPr>
        <p:spPr>
          <a:xfrm>
            <a:off x="7051412" y="4960250"/>
            <a:ext cx="2851772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7" name="Bar 17"/>
          <p:cNvSpPr/>
          <p:nvPr/>
        </p:nvSpPr>
        <p:spPr>
          <a:xfrm>
            <a:off x="8537298" y="5720250"/>
            <a:ext cx="3594715" cy="391886"/>
          </a:xfrm>
          <a:prstGeom prst="rect">
            <a:avLst/>
          </a:prstGeom>
          <a:solidFill>
            <a:srgbClr val="1F4E8C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209006" y="0"/>
            <a:ext cx="8000000" cy="769441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latin typeface="Times New Roman"/>
                <a:cs typeface="Times New Roman"/>
              </a:rPr>
              <a:t>Milestones: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2600000" y="2000000"/>
            <a:ext cx="7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ctr">
            <a:norm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latin typeface="Times New Roman"/>
                <a:cs typeface="Times New Roman"/>
              </a:rPr>
              <a:t>Thank You!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00000" y="4848668"/>
            <a:ext cx="5000000" cy="5232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latin typeface="Times New Roman"/>
                <a:cs typeface="Times New Roman"/>
                <a:hlinkClick r:id="rIdGit"/>
              </a:rPr>
              <a:t>GitHub Repository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Bill of Materials (BOM):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431800" y="1500000"/>
          <a:ext cx="11299999" cy="3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71698"/>
                <a:gridCol w="5116981"/>
                <a:gridCol w="1705660"/>
                <a:gridCol w="1705660"/>
              </a:tblGrid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Component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Specifications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Quantity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Cost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Laptops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Team members’ own computers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3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Free (own)</a:t>
                      </a:r>
                    </a:p>
                  </a:txBody>
                  <a:tcPr marL="91440" marR="91440" marT="45720" marB="45720" anchor="ctr"/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GPU access (Colab Pro)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Cloud compute, optional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3 months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€0–30</a:t>
                      </a:r>
                    </a:p>
                  </a:txBody>
                  <a:tcPr marL="91440" marR="91440" marT="45720" marB="45720" anchor="ctr"/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Manuals (data)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UR error codes, UR5e user manual, Robotiq gripper manual, UR service handbook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4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Free</a:t>
                      </a:r>
                    </a:p>
                  </a:txBody>
                  <a:tcPr marL="91440" marR="91440" marT="45720" marB="45720" anchor="ctr"/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Software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Python, Ollama, FAISS, Streamlit (open source)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-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Free</a:t>
                      </a:r>
                    </a:p>
                  </a:txBody>
                  <a:tcPr marL="91440" marR="91440" marT="45720" marB="45720" anchor="ctr"/>
                </a:tc>
              </a:tr>
              <a:tr h="62000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Repository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GitHub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>
                          <a:latin typeface="Times New Roman"/>
                          <a:cs typeface="Times New Roman"/>
                        </a:rPr>
                        <a:t>Free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431800" y="5400000"/>
            <a:ext cx="11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Times New Roman"/>
                <a:cs typeface="Times New Roman"/>
              </a:rPr>
              <a:t>Total estimated cost: €0–30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Times New Roman"/>
                <a:cs typeface="Times New Roman"/>
              </a:rPr>
              <a:t>Safety, Risks &amp; Ethical Checklist: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479854" y="1550000"/>
            <a:ext cx="112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285750" indent="-28575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Decision aid only: UR requires trained personnel to review every protective stop; the assistant supports, never replaces this</a:t>
            </a:r>
          </a:p>
          <a:p>
            <a:pPr marL="285750" indent="-28575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Every answer cites its source page; the bot says “I don’t know” when the answer is not found</a:t>
            </a:r>
          </a:p>
          <a:p>
            <a:pPr marL="285750" indent="-28575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Copyright respected: manuals are linked, never uploaded to GitHub</a:t>
            </a:r>
          </a:p>
          <a:p>
            <a:pPr marL="285750" indent="-28575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No personal data processed; the local model keeps documents on site</a:t>
            </a:r>
          </a:p>
          <a:p>
            <a:pPr marL="285750" indent="-285750" algn="l"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Technical risks: PDF tables extract badly (compare pdfplumber vs. PyMuPDF); slow local inference (smaller quantized model)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400" b="1" dirty="0">
                <a:latin typeface="Times New Roman"/>
                <a:cs typeface="Times New Roman"/>
              </a:rPr>
              <a:t>Expected Outcomes &amp; Future Work: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731520" y="1500000"/>
            <a:ext cx="107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latin typeface="Times New Roman"/>
                <a:cs typeface="Times New Roman"/>
              </a:rPr>
              <a:t>Expected outcomes: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Working chatbot for UR5e error diagnosis with page citations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Comparison of four approaches on the same 60-question test set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Error analysis showing which question types fail, and why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Public GitHub repository, demo video and IEEE-format report</a:t>
            </a:r>
          </a:p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800" dirty="0">
                <a:latin typeface="Times New Roman"/>
                <a:cs typeface="Times New Roman"/>
              </a:rPr>
              <a:t> 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b="1" dirty="0">
                <a:latin typeface="Times New Roman"/>
                <a:cs typeface="Times New Roman"/>
              </a:rPr>
              <a:t>Future work: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Read the robot’s error log automatically instead of typing the code</a:t>
            </a:r>
          </a:p>
          <a:p>
            <a:pPr marL="285750" indent="-285750" algn="l">
              <a:spcBef>
                <a:spcPts val="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 dirty="0">
                <a:latin typeface="Times New Roman"/>
                <a:cs typeface="Times New Roman"/>
              </a:rPr>
              <a:t>Add more robots and machines; German-language questions; images in manuals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300000" cy="1030286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/>
                <a:cs typeface="Times New Roman"/>
              </a:rPr>
              <a:t>Bibliography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sp>
        <p:nvSpPr>
          <p:cNvPr id="11" name="TextBox 11"/>
          <p:cNvSpPr txBox="1"/>
          <p:nvPr/>
        </p:nvSpPr>
        <p:spPr>
          <a:xfrm>
            <a:off x="838200" y="1500000"/>
            <a:ext cx="10700000" cy="47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[1] P. Lewis et al., “Retrieval-Augmented Generation for Knowledge-Intensive NLP Tasks,” NeurIPS, 2020.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[2] Y. Gao et al., “Retrieval-Augmented Generation for Large Language Models: A Survey,” arXiv:2312.10997, 2023.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[3] S. Es et al., “RAGAS: Automated Evaluation of Retrieval Augmented Generation,” EACL (Demos), 2024.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[4] N. Reimers and I. Gurevych, “Sentence-BERT: Sentence Embeddings using Siamese BERT-Networks,” EMNLP, 2019.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[5] J. Johnson, M. Douze and H. Jégou, “Billion-scale similarity search with GPUs,” IEEE Trans. Big Data, vol. 7, no. 3, pp. 535–547, 2021.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[6] S. Robertson and H. Zaragoza, “The Probabilistic Relevance Framework: BM25 and Beyond,” Found. Trends Inf. Retr., 2009.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[7] Siemens AG, “The True Cost of Downtime 2024,” Siemens Digital Industries, 2024.</a:t>
            </a:r>
          </a:p>
          <a:p>
            <a:pPr marL="0" indent="0" algn="l">
              <a:spcBef>
                <a:spcPts val="0"/>
              </a:spcBef>
              <a:spcAft>
                <a:spcPts val="500"/>
              </a:spcAft>
              <a:buNone/>
            </a:pPr>
            <a:r>
              <a:rPr lang="en-US" sz="1500" dirty="0">
                <a:latin typeface="Times New Roman"/>
                <a:cs typeface="Times New Roman"/>
              </a:rPr>
              <a:t>[8] Universal Robots, “Understanding Protective Stops,” support article, 2026.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8822" y="313532"/>
            <a:ext cx="8400000" cy="1030286"/>
          </a:xfrm>
        </p:spPr>
        <p:txBody>
          <a:bodyPr>
            <a:normAutofit/>
          </a:bodyPr>
          <a:lstStyle/>
          <a:p>
            <a:r>
              <a:rPr lang="en-US" sz="3000" b="1" dirty="0">
                <a:latin typeface="Times New Roman"/>
                <a:cs typeface="Times New Roman"/>
              </a:rPr>
              <a:t>Use Case: Robot Cell in Production &amp; Logistics:</a:t>
            </a:r>
          </a:p>
        </p:txBody>
      </p:sp>
      <p:pic>
        <p:nvPicPr>
          <p:cNvPr id="3" name="THD Logo" descr="Deggendorf Institute of Technology logo"/>
          <p:cNvPicPr>
            <a:picLocks noChangeAspect="1"/>
          </p:cNvPicPr>
          <p:nvPr/>
        </p:nvPicPr>
        <p:blipFill rotWithShape="1">
          <a:blip r:embed="rId2"/>
          <a:srcRect t="25993" b="23415"/>
          <a:stretch/>
        </p:blipFill>
        <p:spPr bwMode="auto">
          <a:xfrm>
            <a:off x="8813800" y="18255"/>
            <a:ext cx="3378200" cy="1325563"/>
          </a:xfrm>
          <a:prstGeom prst="rect">
            <a:avLst/>
          </a:prstGeom>
          <a:noFill/>
        </p:spPr>
      </p:pic>
      <p:pic>
        <p:nvPicPr>
          <p:cNvPr id="4" name="Picture" descr="Robot cell: warehouse, AGV, input buffer, UR5e cobot, CNC machine, output buffer, AGV, warehouse; at a protective stop the operator asks FactoryDocs Assistant, which answers from four public manuals with source pages"/>
          <p:cNvPicPr>
            <a:picLocks noChangeAspect="1"/>
          </p:cNvPicPr>
          <p:nvPr/>
        </p:nvPicPr>
        <p:blipFill>
          <a:blip r:embed="rIdCell"/>
          <a:stretch>
            <a:fillRect/>
          </a:stretch>
        </p:blipFill>
        <p:spPr>
          <a:xfrm>
            <a:off x="596000" y="1300000"/>
            <a:ext cx="11000000" cy="3575000"/>
          </a:xfrm>
          <a:prstGeom prst="rect">
            <a:avLst/>
          </a:prstGeom>
        </p:spPr>
      </p:pic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601884" y="4950000"/>
          <a:ext cx="10900000" cy="13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834000"/>
                <a:gridCol w="8066000"/>
              </a:tblGrid>
              <a:tr h="330000">
                <a:tc>
                  <a:txBody>
                    <a:bodyPr/>
                    <a:lstStyle/>
                    <a:p>
                      <a:pPr/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Scenario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Times New Roman"/>
                          <a:cs typeface="Times New Roman"/>
                        </a:rPr>
                        <a:t>What happens at a robot stop</a:t>
                      </a:r>
                    </a:p>
                  </a:txBody>
                  <a:tcPr marL="91440" marR="91440" marT="45720" marB="45720" anchor="ctr">
                    <a:solidFill>
                      <a:schemeClr val="tx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1. Manual search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Robot stops → operator searches 4 manuals with Ctrl+F → calls technician → fix</a:t>
                      </a:r>
                    </a:p>
                  </a:txBody>
                  <a:tcPr marL="91440" marR="91440" marT="45720" marB="45720" anchor="ctr"/>
                </a:tc>
              </a:tr>
              <a:tr h="330000"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2. Plain chatbot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Robot stops → answer from memory, no source → cannot be verified</a:t>
                      </a:r>
                    </a:p>
                  </a:txBody>
                  <a:tcPr marL="91440" marR="91440" marT="45720" marB="45720" anchor="ctr"/>
                </a:tc>
              </a:tr>
              <a:tr h="330000"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3. FactoryDocs Assistant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n-US" sz="1500" dirty="0">
                          <a:latin typeface="Times New Roman"/>
                          <a:cs typeface="Times New Roman"/>
                        </a:rPr>
                        <a:t>Robot stops → type code or problem → cause + fix with page → restart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10/20/2026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Case Study: FactoryDocs Assistant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BFBA2-1CB6-1F4E-9BB3-885A90BDAFD4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</TotalTime>
  <Words>918</Words>
  <Application>Microsoft Office PowerPoint</Application>
  <PresentationFormat>Widescreen</PresentationFormat>
  <Paragraphs>195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Office Theme</vt:lpstr>
      <vt:lpstr> Integration and Comparison of vision models for smart inspection cell </vt:lpstr>
      <vt:lpstr>  Introduction:</vt:lpstr>
      <vt:lpstr>Project Scope:</vt:lpstr>
      <vt:lpstr>Objectives:</vt:lpstr>
      <vt:lpstr>Technology Stack:</vt:lpstr>
      <vt:lpstr>Project flow chart:</vt:lpstr>
      <vt:lpstr>Working Methodology:</vt:lpstr>
      <vt:lpstr>Bill of Materials(BOM):</vt:lpstr>
      <vt:lpstr>Expected Outcomes:</vt:lpstr>
      <vt:lpstr>Safety &amp; Ethical Checklist:</vt:lpstr>
      <vt:lpstr>Future Work:</vt:lpstr>
      <vt:lpstr>Bibliography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Integration and  Comparision of Vision models for smart inspection cell</dc:title>
  <dc:creator>yaswitha Pallela</dc:creator>
  <cp:lastModifiedBy>Thatikonda Rakshith</cp:lastModifiedBy>
  <cp:revision>51</cp:revision>
  <dcterms:created xsi:type="dcterms:W3CDTF">2025-10-13T08:49:29Z</dcterms:created>
  <dcterms:modified xsi:type="dcterms:W3CDTF">2025-10-16T09:18:11Z</dcterms:modified>
</cp:coreProperties>
</file>