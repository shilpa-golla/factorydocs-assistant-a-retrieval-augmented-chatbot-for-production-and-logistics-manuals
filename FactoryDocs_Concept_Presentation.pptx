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8" r:id="rId2"/>
    <p:sldId id="257" r:id="rId3"/>
    <p:sldId id="268" r:id="rId4"/>
    <p:sldId id="294" r:id="rId5"/>
    <p:sldId id="258" r:id="rId6"/>
    <p:sldId id="283" r:id="rId7"/>
    <p:sldId id="261" r:id="rId8"/>
    <p:sldId id="267" r:id="rId9"/>
    <p:sldId id="269" r:id="rId10"/>
    <p:sldId id="285" r:id="rId11"/>
    <p:sldId id="284" r:id="rId12"/>
    <p:sldId id="287" r:id="rId13"/>
    <p:sldId id="286" r:id="rId14"/>
    <p:sldId id="290" r:id="rId15"/>
    <p:sldId id="289" r:id="rId16"/>
    <p:sldId id="291" r:id="rId17"/>
    <p:sldId id="292" r:id="rId18"/>
    <p:sldId id="293" r:id="rId19"/>
    <p:sldId id="280" r:id="rId2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95FE9-06D3-4D79-B471-76A0406B1FBD}" v="1" dt="2026-10-23T12:18:41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83082" autoAdjust="0"/>
  </p:normalViewPr>
  <p:slideViewPr>
    <p:cSldViewPr snapToGrid="0">
      <p:cViewPr varScale="1">
        <p:scale>
          <a:sx n="46" d="100"/>
          <a:sy n="46" d="100"/>
        </p:scale>
        <p:origin x="72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A GOLLA" userId="e6cdfb3b7b10ae71" providerId="LiveId" clId="{A0C653D3-258A-42D5-9473-121EC8112B2F}"/>
    <pc:docChg chg="custSel modSld">
      <pc:chgData name="SHILPA GOLLA" userId="e6cdfb3b7b10ae71" providerId="LiveId" clId="{A0C653D3-258A-42D5-9473-121EC8112B2F}" dt="2026-10-23T12:19:18.865" v="9" actId="732"/>
      <pc:docMkLst>
        <pc:docMk/>
      </pc:docMkLst>
      <pc:sldChg chg="addSp delSp modSp mod">
        <pc:chgData name="SHILPA GOLLA" userId="e6cdfb3b7b10ae71" providerId="LiveId" clId="{A0C653D3-258A-42D5-9473-121EC8112B2F}" dt="2026-10-23T12:19:18.865" v="9" actId="732"/>
        <pc:sldMkLst>
          <pc:docMk/>
          <pc:sldMk cId="0" sldId="269"/>
        </pc:sldMkLst>
        <pc:picChg chg="del">
          <ac:chgData name="SHILPA GOLLA" userId="e6cdfb3b7b10ae71" providerId="LiveId" clId="{A0C653D3-258A-42D5-9473-121EC8112B2F}" dt="2026-10-23T12:18:29.951" v="0" actId="478"/>
          <ac:picMkLst>
            <pc:docMk/>
            <pc:sldMk cId="0" sldId="269"/>
            <ac:picMk id="4" creationId="{00000000-0000-0000-0000-000000000000}"/>
          </ac:picMkLst>
        </pc:picChg>
        <pc:picChg chg="add mod modCrop">
          <ac:chgData name="SHILPA GOLLA" userId="e6cdfb3b7b10ae71" providerId="LiveId" clId="{A0C653D3-258A-42D5-9473-121EC8112B2F}" dt="2026-10-23T12:19:18.865" v="9" actId="732"/>
          <ac:picMkLst>
            <pc:docMk/>
            <pc:sldMk cId="0" sldId="269"/>
            <ac:picMk id="8" creationId="{EF5D253C-5351-785D-F185-A5A60901A4EC}"/>
          </ac:picMkLst>
        </pc:picChg>
        <pc:picChg chg="add del mod">
          <ac:chgData name="SHILPA GOLLA" userId="e6cdfb3b7b10ae71" providerId="LiveId" clId="{A0C653D3-258A-42D5-9473-121EC8112B2F}" dt="2026-10-23T12:18:43.621" v="4" actId="478"/>
          <ac:picMkLst>
            <pc:docMk/>
            <pc:sldMk cId="0" sldId="269"/>
            <ac:picMk id="9" creationId="{CCDF17D3-F006-FE42-D15E-D4F46198E8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21334-BA66-DB40-BAF6-2B22C7723DD9}" type="datetimeFigureOut">
              <a:rPr lang="en-DE" smtClean="0"/>
              <a:t>10/23/2026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0CC56-9DE8-D644-BF20-88B4C0DB730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110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0CC56-9DE8-D644-BF20-88B4C0DB7302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24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0CC56-9DE8-D644-BF20-88B4C0DB7302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545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F021-9AC3-A873-381C-DBFC05B19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4D7EC-6994-957D-2A01-DCB87CCF3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D942-DF23-1A44-D504-138F3462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B69FA-CB31-4225-8774-6201BA3B2654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FE0F-0E75-585C-1AF5-83CD09B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C001-62E2-3BC7-6DFF-B928C211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491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FA60-504B-B09D-6E7C-2CE95DBA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4484-0429-5854-48E9-018D347D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237F0-A7BE-6F98-DEEE-1C1C77E7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736C7-67DF-4B04-A94D-56841F34FA11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E9CA-47A3-F710-09B6-830B3844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1812-C4F9-6696-CCAD-83F0CE21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372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AB00-9207-B88D-5557-1884728B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9B0A-B9F2-1ADA-F387-6EFFA6691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4DD4B-D839-37D2-7096-1A4BDEA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F760-44DB-4C6C-B540-17589643C014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1A67-B777-D9B2-BA1B-DBBEE669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9D5E-560E-F104-0805-81B4BE50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53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143A-560A-8222-4C1C-83F8A305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1511-E66D-F6DD-12D6-A55C02181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B5F0B-EC5E-DEF8-361B-12ABE25CC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34199-0951-4AC9-FFD9-A4F55FE6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9799-BFC0-42F4-AFE1-0D176C544888}" type="datetime1">
              <a:rPr lang="en-US" smtClean="0"/>
              <a:t>10/23/2026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08F80-FC68-6E9C-D814-00AFB72A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C4074-035A-B3F6-B6F3-CC327C7B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729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55A6-0864-D91F-A040-ADEF828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24FD7-BF98-7C3E-4735-0CCDC1E89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93A5-41BB-151F-F955-CDC06226C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B36DC-B91C-50C2-84BA-FC757DDF2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E8B91-83E8-2A21-0A2E-4F520384B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89513-021B-5B5F-2AB4-7A830D93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B2E0-D036-4586-BA61-E1F0645B7038}" type="datetime1">
              <a:rPr lang="en-US" smtClean="0"/>
              <a:t>10/23/2026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2DEEC-C9D9-6284-D428-F233CA1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7B4F18-C3A3-895B-8A04-2B7197CD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992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03C5-78C3-4B87-31A8-6B5ED20D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B6E1A-2FE3-FA81-59E7-30D1B74D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6FBF3-05C0-4410-97F4-1F241ADD1A85}" type="datetime1">
              <a:rPr lang="en-US" smtClean="0"/>
              <a:t>10/23/2026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7C422-EE22-42BC-A9CF-64D85DBF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3996-3544-F68A-D3F7-6C91AD12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37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77BB8-964E-F819-2378-F0F49C87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B69B-925F-406A-BB2E-3A95A65DA62D}" type="datetime1">
              <a:rPr lang="en-US" smtClean="0"/>
              <a:t>10/23/2026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5B863-7262-5B41-6721-635E0411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9EC5-7ACA-0E4A-052C-54CF19D3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5004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9544-9012-6916-7216-1E606F48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D2A6-81DE-F306-A979-72AAC6291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ED4FB-2779-E553-48F4-CCBA603F0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28CB4-E490-03ED-6DB7-05D10D6D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A95-D498-467B-842C-6A1180EBCC0A}" type="datetime1">
              <a:rPr lang="en-US" smtClean="0"/>
              <a:t>10/23/2026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20B77-B289-F0F8-426E-50F17A1F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51D3E-8F02-F982-64A3-82A8914F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737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F2A5-14F0-E216-CBC1-BC3A6BA2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5A376-47AE-1EB9-9A8A-53F5BBE31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DCF7B-5473-F74F-8E6A-F7428E218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67CAD-A79D-ED34-811D-4D4D686D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1015-35EE-49F2-9BC3-B1261FA7ADDE}" type="datetime1">
              <a:rPr lang="en-US" smtClean="0"/>
              <a:t>10/23/2026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EA400-CB25-4425-DFCE-825312DA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1745F-9DA2-63B9-14BD-AE1E238F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971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151C-685E-BA32-DCAE-BDFB675F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E237A-A308-C300-76A7-C3701B56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ADC08-2726-85F5-B9B2-51F71E18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917-A7C1-41B8-BFAE-465241F9C3D4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35EF-45D9-697A-EF75-7B87801A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3F17E-50FE-78BD-16EC-27BA42F5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256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D65B6-5E97-8525-5C36-89CB178B9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DDD5C-0FC5-9294-8CF4-AFFD4DA1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82AB4-2DDB-0B80-7B18-ACDF3011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C972F-C4A1-4882-B997-9AB6AD1D6520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FB16-C188-3AC8-C546-B306BB25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3093-6DA8-3806-CD62-A67FCC32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938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0B582-E83B-8C6B-62D6-2E4423FA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65E92-A2CD-0EFD-35CD-E030D056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45A36-C7D9-600D-038B-5FE45C075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BD3CE-29AB-4F97-9A20-DAADF5E3AA7A}" type="datetime1">
              <a:rPr lang="en-US" smtClean="0"/>
              <a:t>10/23/2026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0AA2-07B6-2B36-266E-95F1C306F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Case Study Integration and Comparison of vision models for smart inspection cell 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FD303-8AD8-26D9-AAD0-BD7982556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BFBA2-1CB6-1F4E-9BB3-885A90BDAFD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573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lpa-Golla/FactoryDocs-Assistant-A-Retrieval-Augmented-Chatbot-for-Production-and-Logistics-Manual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00" y="250000"/>
            <a:ext cx="10800000" cy="175000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latin typeface="Times New Roman"/>
                <a:cs typeface="Times New Roman"/>
              </a:rPr>
              <a:t>FactoryDocs Assistant: A Retrieval-Augmented Chatbot for Robot Error Diagnosis in Production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95981" y="2121137"/>
            <a:ext cx="3416075" cy="1066200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522514" y="4000000"/>
            <a:ext cx="73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latin typeface="Times New Roman"/>
                <a:cs typeface="Times New Roman"/>
              </a:rPr>
              <a:t>Team Members: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latin typeface="Times New Roman"/>
                <a:cs typeface="Times New Roman"/>
              </a:rPr>
              <a:t>Divi Teja Dimmiti (Team Lead, RAG </a:t>
            </a:r>
            <a:r>
              <a:rPr lang="en-US" sz="1800" dirty="0" err="1">
                <a:latin typeface="Times New Roman"/>
                <a:cs typeface="Times New Roman"/>
              </a:rPr>
              <a:t>pipeline,test</a:t>
            </a:r>
            <a:r>
              <a:rPr lang="en-US" sz="1800" dirty="0">
                <a:latin typeface="Times New Roman"/>
                <a:cs typeface="Times New Roman"/>
              </a:rPr>
              <a:t> set)</a:t>
            </a:r>
          </a:p>
          <a:p>
            <a:pPr>
              <a:spcAft>
                <a:spcPts val="200"/>
              </a:spcAft>
            </a:pPr>
            <a:r>
              <a:rPr lang="en-US" sz="1800" dirty="0">
                <a:latin typeface="Times New Roman"/>
                <a:cs typeface="Times New Roman"/>
              </a:rPr>
              <a:t>Shilpa Golla (PDF extraction </a:t>
            </a:r>
            <a:r>
              <a:rPr lang="en-US" dirty="0">
                <a:latin typeface="Times New Roman"/>
                <a:cs typeface="Times New Roman"/>
              </a:rPr>
              <a:t>&amp; LLM integration</a:t>
            </a:r>
            <a:r>
              <a:rPr lang="en-US" sz="1800" dirty="0">
                <a:latin typeface="Times New Roman"/>
                <a:cs typeface="Times New Roman"/>
              </a:rPr>
              <a:t>)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latin typeface="Times New Roman"/>
                <a:cs typeface="Times New Roman"/>
              </a:rPr>
              <a:t>Vijay Boyapati (Evaluation &amp; Streamlit demo)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00000" y="3350000"/>
            <a:ext cx="34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cs typeface="Times New Roman"/>
              </a:rPr>
              <a:t>Concept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0000" y="4700000"/>
            <a:ext cx="35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latin typeface="Times New Roman"/>
                <a:cs typeface="Times New Roman"/>
              </a:rPr>
              <a:t>Guided by: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cs typeface="Times New Roman"/>
              </a:rPr>
              <a:t>Hamidreza Heidari, PhD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Introduction: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601884" y="1450000"/>
            <a:ext cx="10900000" cy="4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latin typeface="Times New Roman"/>
                <a:cs typeface="Times New Roman"/>
              </a:rPr>
              <a:t>In a production line, every minute a machine stands still means lost output. Unplanned downtime costs the world’s 500 largest companies about $1.4 trillion per year, ~11% of revenue (Siemens, 2024). Collaborative robots like the Universal Robots UR5e load CNC machines and pick and place parts; when the robot stops with an error code, the connected machine and material flow stop too.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latin typeface="Times New Roman"/>
                <a:cs typeface="Times New Roman"/>
              </a:rPr>
              <a:t>Key motivations: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 cause and fix are spread over several long manuals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Workers describe problems in their own words, which Ctrl+F cannot match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General AI chatbots can give confident but wrong answers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/>
                <a:cs typeface="Times New Roman"/>
              </a:rPr>
              <a:t>Real-World Problem: Robot Stops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601884" y="1350000"/>
            <a:ext cx="109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Protective stop: </a:t>
            </a:r>
            <a:r>
              <a:rPr lang="en-US" sz="1800" dirty="0">
                <a:latin typeface="Times New Roman"/>
                <a:cs typeface="Times New Roman"/>
              </a:rPr>
              <a:t>the robot stops itself for safety and shows a code, e.g., C153 (position deviates from path) or C157 (collision detected by joint).</a:t>
            </a:r>
          </a:p>
          <a:p>
            <a:pPr marL="0" indent="0" algn="l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Common causes: </a:t>
            </a:r>
            <a:r>
              <a:rPr lang="en-US" sz="1800" dirty="0">
                <a:latin typeface="Times New Roman"/>
                <a:cs typeface="Times New Roman"/>
              </a:rPr>
              <a:t>wrong payload setting, collisions, external cables dragging, very high accelerations [8].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UR rule: </a:t>
            </a:r>
            <a:r>
              <a:rPr lang="en-US" sz="1800" dirty="0">
                <a:latin typeface="Times New Roman"/>
                <a:cs typeface="Times New Roman"/>
              </a:rPr>
              <a:t>a protective stop shall not be reset without a review of the fault’s root cause [8].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01884" y="3100000"/>
          <a:ext cx="10899998" cy="25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Step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Today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With FactoryDocs Assistant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Find 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Search the error code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Type the code, get the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Find 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Check several manuals, call a technician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Likely causes from all four manuals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Trial and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Fix steps with source pages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Effect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Robot, CNC and material flow wait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Faster restart, root cause documented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400000" cy="1030286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/>
                <a:cs typeface="Times New Roman"/>
              </a:rPr>
              <a:t>Use Case: Robot Cell in Production &amp; Logistics: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pic>
        <p:nvPicPr>
          <p:cNvPr id="4" name="Picture" descr="Robot cell: warehouse, AGV, input buffer, UR5e cobot, CNC machine, output buffer, AGV, warehouse; at a protective stop the operator asks FactoryDocs Assistant, which answers from four public manuals with source p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0" y="1300000"/>
            <a:ext cx="11000000" cy="3575000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1884" y="4950000"/>
          <a:ext cx="10900000" cy="132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Scenario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What happens at a robot stop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1. Manual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Robot stops → operator searches 4 manuals with Ctrl+F → calls technician → 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2. Plain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Robot stops → answer from memory, no source → cannot be verified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3. FactoryDocs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Robot stops → type code or problem → cause + fix with page → restart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Project Scope: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601884" y="1350000"/>
            <a:ext cx="10900000" cy="4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latin typeface="Times New Roman"/>
                <a:cs typeface="Times New Roman"/>
              </a:rPr>
              <a:t>Aim:</a:t>
            </a:r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900" dirty="0">
                <a:latin typeface="Times New Roman"/>
                <a:cs typeface="Times New Roman"/>
              </a:rPr>
              <a:t>Build and evaluate a local chatbot that diagnoses UR5e robot errors from the error code or a problem description, answering only from the robot and gripper manuals with source pages, and saying “I don’t know” otherwise.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latin typeface="Times New Roman"/>
                <a:cs typeface="Times New Roman"/>
              </a:rPr>
              <a:t>Includes: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Text and table extraction from four public UR5e / gripper manuals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Keyword (BM25), meaning-based and hybrid search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Local LLM answers with page citations and refusal when unsure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60-question test set, evaluation and Streamlit chat demo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800" dirty="0">
                <a:latin typeface="Times New Roman"/>
                <a:cs typeface="Times New Roman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latin typeface="Times New Roman"/>
                <a:cs typeface="Times New Roman"/>
              </a:rPr>
              <a:t>Out of Scope (Current Phase):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Live connection to a physical robot or factory systems (MES/ERP)</a:t>
            </a:r>
          </a:p>
          <a:p>
            <a:pPr marL="285750" indent="-285750" algn="l">
              <a:spcBef>
                <a:spcPts val="0"/>
              </a:spcBef>
              <a:spcAft>
                <a:spcPts val="150"/>
              </a:spcAft>
              <a:buFont typeface="Arial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Images and drawings inside manuals; fine-tuning the language model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Objectives: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601884" y="1700000"/>
            <a:ext cx="109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Build a reproducible RAG pipeline over four UR5e robot and gripper manuals.</a:t>
            </a:r>
          </a:p>
          <a:p>
            <a:pPr marL="285750" indent="-285750" algn="l"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Handle both exact error codes and problem descriptions in the worker’s own words.</a:t>
            </a:r>
          </a:p>
          <a:p>
            <a:pPr marL="285750" indent="-285750" algn="l"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Compare four approaches: plain LLM, BM25 RAG, dense RAG and hybrid RAG.</a:t>
            </a:r>
          </a:p>
          <a:p>
            <a:pPr marL="285750" indent="-285750" algn="l"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Deliver a Streamlit chat demo that shows the source page for every answer.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Input and Output: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1884" y="1450000"/>
          <a:ext cx="10900000" cy="32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Example input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Output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Error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“C157A2”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Meaning of the error, likely causes, fix steps, source pages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Problem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“The robot keeps dropping parts”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Likely causes (e.g., gripper or payload), checks and fixes, source pages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Not in the manuals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“What is the warranty period?”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“I don’t know” instead of guessing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601884" y="4900000"/>
            <a:ext cx="10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Every answer comes only from the manuals and cites the page, so the worker can verify it.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/>
                <a:cs typeface="Times New Roman"/>
              </a:rPr>
              <a:t>Data: Four Public Manuals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1884" y="1450000"/>
          <a:ext cx="10900000" cy="325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Document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What it gives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UR Error Codes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Meaning and suggested fix for robot error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Universal Robots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UR5e User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Robot settings, e.g., payload and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Universal Robots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Robotiq 2F-85 / 2F-140 Manual (for 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Gripper problems, e.g., dropped parts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Robotiq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UR e-Series Service Handbook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Repair and troubleshooting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Universal Robots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601884" y="4900000"/>
            <a:ext cx="10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/>
                <a:cs typeface="Times New Roman"/>
              </a:rPr>
              <a:t>All four are public PDFs. They are not uploaded to GitHub (copyright); the repository shares download links only.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77" y="0"/>
            <a:ext cx="8000000" cy="110758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Project flow chart: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5D253C-5351-785D-F185-A5A60901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47" r="10470"/>
          <a:stretch>
            <a:fillRect/>
          </a:stretch>
        </p:blipFill>
        <p:spPr>
          <a:xfrm>
            <a:off x="4488872" y="888724"/>
            <a:ext cx="3956859" cy="521096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Working Methodology: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711200" y="1300000"/>
            <a:ext cx="108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900" b="1" dirty="0">
                <a:latin typeface="Times New Roman"/>
                <a:cs typeface="Times New Roman"/>
              </a:rPr>
              <a:t>Step 1: Data Preparation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Download the four manuals; extract text and tables with page numbers.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Split into small chunks tagged with manual name and page.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dirty="0">
                <a:latin typeface="Times New Roman"/>
                <a:cs typeface="Times New Roman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900" b="1" dirty="0">
                <a:latin typeface="Times New Roman"/>
                <a:cs typeface="Times New Roman"/>
              </a:rPr>
              <a:t>Step 2: Retrieval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Baseline: keyword search (BM25). Then meaning-based search (sentence-transformers + FAISS).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Hybrid search combines both: exact codes like C157A2 and free-text problems.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dirty="0">
                <a:latin typeface="Times New Roman"/>
                <a:cs typeface="Times New Roman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900" b="1" dirty="0">
                <a:latin typeface="Times New Roman"/>
                <a:cs typeface="Times New Roman"/>
              </a:rPr>
              <a:t>Step 3: Answer Generation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Local LLM (Ollama) answers only from retrieved chunks and cites the pages.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If the answer is not in the chunks, it replies “I don’t know”.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dirty="0">
                <a:latin typeface="Times New Roman"/>
                <a:cs typeface="Times New Roman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900" b="1" dirty="0">
                <a:latin typeface="Times New Roman"/>
                <a:cs typeface="Times New Roman"/>
              </a:rPr>
              <a:t>Step 4: Evaluation and Comparison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60 questions in 5 types: error code, problem description, multi-document, procedure, unanswerable.</a:t>
            </a:r>
          </a:p>
          <a:p>
            <a:pPr marL="285750" indent="-285750" algn="l">
              <a:spcBef>
                <a:spcPts val="0"/>
              </a:spcBef>
              <a:spcAft>
                <a:spcPts val="120"/>
              </a:spcAft>
              <a:buFont typeface="Arial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Scored by two members with a rubric, checked with RAGAS; four approaches compared.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Technology Stack: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36610" y="1450000"/>
          <a:ext cx="10400000" cy="43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Tool / Framework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PDF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pdfplumber (PyMuPDF backup)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Text and tables with page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sentence-transformers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Turn text chunks into meaning vectors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Vector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Meaning-based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Keyword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rank-bm25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Exact terms such as error codes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Ollama (e.g., Llama 3 8B)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Local answers, no cloud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pandas, RAGAS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Metrics and faithfulness scores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Chat window showing source pages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What We Compare: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1884" y="1450000"/>
          <a:ext cx="10900000" cy="30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1. Plain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No retrieval; answers from the model’s memory (shows hallucination risk)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2. BM25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Keyword search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3. Dense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Meaning-based search with sentence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4. Hybrid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BM25 + dense combined: exact error codes and problem descriptions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601884" y="4650000"/>
            <a:ext cx="109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Why not Ctrl+F or ChatGPT? </a:t>
            </a:r>
            <a:r>
              <a:rPr lang="en-US" sz="1800" dirty="0">
                <a:latin typeface="Times New Roman"/>
                <a:cs typeface="Times New Roman"/>
              </a:rPr>
              <a:t>Ctrl+F needs the exact words in the manual; a plain chatbot answers from memory, without a source. We don’t build a new LLM, we make one reliable for the shop floor and prove it on the same test set.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Evaluation KPIs: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01884" y="1450000"/>
          <a:ext cx="10899998" cy="30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82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2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KPI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What it measures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Target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Retrieval hit rate@5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Correct page is among the top 5 chunks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≥ 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Answer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Answer judged correct (3-level rubric, 2 reviewers)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≥ 75%, beats baselines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Refusal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“I don’t know” on unanswerable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≥ 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Median seconds per answer on a 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≤ 10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601884" y="4650000"/>
            <a:ext cx="109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dirty="0">
                <a:latin typeface="Times New Roman"/>
                <a:cs typeface="Times New Roman"/>
              </a:rPr>
              <a:t>Test set: </a:t>
            </a:r>
            <a:r>
              <a:rPr lang="en-US" sz="1800" dirty="0">
                <a:latin typeface="Times New Roman"/>
                <a:cs typeface="Times New Roman"/>
              </a:rPr>
              <a:t>60 team-written questions: error code · problem description · multi-document · procedure · unanswerable.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latin typeface="Times New Roman"/>
                <a:cs typeface="Times New Roman"/>
              </a:rPr>
              <a:t>Targets are our goals; final values will come from the experiments.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Bill of Materials (BOM):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31800" y="1500000"/>
          <a:ext cx="11299999" cy="37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5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Specifications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Quantity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Laptops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Team members’ own 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Free (own)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GPU access (Colab Pro)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Cloud compute, 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3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€0–30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Manuals (data)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UR error codes, UR5e user manual, Robotiq gripper manual, UR service handbook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Python, Ollama, FAISS, Streamlit (open source)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431800" y="5400000"/>
            <a:ext cx="11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cs typeface="Times New Roman"/>
              </a:rPr>
              <a:t>Total estimated cost: €0–30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antt Table"/>
          <p:cNvGraphicFramePr>
            <a:graphicFrameLocks noGrp="1"/>
          </p:cNvGraphicFramePr>
          <p:nvPr/>
        </p:nvGraphicFramePr>
        <p:xfrm>
          <a:off x="0" y="856193"/>
          <a:ext cx="12192013" cy="54400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253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294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880000"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(Oct) Week 43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44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(Nov) Week 45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46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47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48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(Dec) Week 49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50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51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52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53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(Jan) Week 01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Week 02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Proposal &amp; literature review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PDF extraction + BM25 baseline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Embeddings, FAISS, plain-LLM baseline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Test set, hybrid search, comparison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Streamlit demo, video, run guide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/>
                          <a:cs typeface="Times New Roman"/>
                        </a:rPr>
                        <a:t>Final report &amp; presentation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Bar 12"/>
          <p:cNvSpPr/>
          <p:nvPr/>
        </p:nvSpPr>
        <p:spPr>
          <a:xfrm>
            <a:off x="2593754" y="1920250"/>
            <a:ext cx="2108829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3" name="Bar 13"/>
          <p:cNvSpPr/>
          <p:nvPr/>
        </p:nvSpPr>
        <p:spPr>
          <a:xfrm>
            <a:off x="2593754" y="2680250"/>
            <a:ext cx="2108829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4" name="Bar 14"/>
          <p:cNvSpPr/>
          <p:nvPr/>
        </p:nvSpPr>
        <p:spPr>
          <a:xfrm>
            <a:off x="4079640" y="3440250"/>
            <a:ext cx="2851772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5" name="Bar 15"/>
          <p:cNvSpPr/>
          <p:nvPr/>
        </p:nvSpPr>
        <p:spPr>
          <a:xfrm>
            <a:off x="4822583" y="4200250"/>
            <a:ext cx="3594715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6" name="Bar 16"/>
          <p:cNvSpPr/>
          <p:nvPr/>
        </p:nvSpPr>
        <p:spPr>
          <a:xfrm>
            <a:off x="7051412" y="4960250"/>
            <a:ext cx="2851772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7" name="Bar 17"/>
          <p:cNvSpPr/>
          <p:nvPr/>
        </p:nvSpPr>
        <p:spPr>
          <a:xfrm>
            <a:off x="8537298" y="5720250"/>
            <a:ext cx="3594715" cy="391886"/>
          </a:xfrm>
          <a:prstGeom prst="rect">
            <a:avLst/>
          </a:prstGeom>
          <a:solidFill>
            <a:srgbClr val="1F4E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09006" y="0"/>
            <a:ext cx="8000000" cy="7694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/>
                <a:cs typeface="Times New Roman"/>
              </a:rPr>
              <a:t>Milestones: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Safety, Risks &amp; Ethical Checklist: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479854" y="1550000"/>
            <a:ext cx="11200000" cy="4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Decision aid only: UR requires trained personnel to review every protective stop; the assistant supports, never replaces this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Every answer cites its source page; the bot says “I don’t know” when the answer is not found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Copyright respected: manuals are linked, never uploaded to GitHub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No personal data processed; the local model keeps documents on site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Technical risks: PDF tables extract badly (compare pdfplumber vs. PyMuPDF); slow local inference (smaller quantized model)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/>
                <a:cs typeface="Times New Roman"/>
              </a:rPr>
              <a:t>Expected Outcomes &amp; Future Work: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731520" y="1500000"/>
            <a:ext cx="10700000" cy="4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latin typeface="Times New Roman"/>
                <a:cs typeface="Times New Roman"/>
              </a:rPr>
              <a:t>Expected outcomes: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Working chatbot for UR5e error diagnosis with page citations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Comparison of four approaches on the same 60-question test set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Error analysis showing which question types fail, and why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Public GitHub repository, demo video and IEEE-format report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800" dirty="0">
                <a:latin typeface="Times New Roman"/>
                <a:cs typeface="Times New Roman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latin typeface="Times New Roman"/>
                <a:cs typeface="Times New Roman"/>
              </a:rPr>
              <a:t>Future work: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Read the robot’s error log automatically instead of typing the code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Add more robots and machines; German-language questions; images in manuals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2" y="313532"/>
            <a:ext cx="8300000" cy="10302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Bibliography</a:t>
            </a:r>
          </a:p>
        </p:txBody>
      </p:sp>
      <p:pic>
        <p:nvPicPr>
          <p:cNvPr id="3" name="THD Logo" descr="Deggendorf Institute of Technology logo"/>
          <p:cNvPicPr>
            <a:picLocks noChangeAspect="1"/>
          </p:cNvPicPr>
          <p:nvPr/>
        </p:nvPicPr>
        <p:blipFill rotWithShape="1">
          <a:blip r:embed="rId2"/>
          <a:srcRect t="25993" b="23415"/>
          <a:stretch/>
        </p:blipFill>
        <p:spPr bwMode="auto">
          <a:xfrm>
            <a:off x="8813800" y="18255"/>
            <a:ext cx="3378200" cy="1325563"/>
          </a:xfrm>
          <a:prstGeom prst="rect">
            <a:avLst/>
          </a:prstGeom>
          <a:noFill/>
        </p:spPr>
      </p:pic>
      <p:sp>
        <p:nvSpPr>
          <p:cNvPr id="11" name="TextBox 11"/>
          <p:cNvSpPr txBox="1"/>
          <p:nvPr/>
        </p:nvSpPr>
        <p:spPr>
          <a:xfrm>
            <a:off x="838200" y="1500000"/>
            <a:ext cx="107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[1] P. Lewis et al., “Retrieval-Augmented Generation for Knowledge-Intensive NLP Tasks,” NeurIPS, 2020.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[2] Y. Gao et al., “Retrieval-Augmented Generation for Large Language Models: A Survey,” arXiv:2312.10997, 2023.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[3] S. Es et al., “RAGAS: Automated Evaluation of Retrieval Augmented Generation,” EACL (Demos), 2024.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[4] N. Reimers and I. Gurevych, “Sentence-BERT: Sentence Embeddings using Siamese BERT-Networks,” EMNLP, 2019.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[5] J. Johnson, M. Douze and H. Jégou, “Billion-scale similarity search with GPUs,” IEEE Trans. Big Data, vol. 7, no. 3, pp. 535–547, 2021.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[6] S. Robertson and H. Zaragoza, “The Probabilistic Relevance Framework: BM25 and Beyond,” Found. Trends Inf. Retr., 2009.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[7] Siemens AG, “The True Cost of Downtime 2024,” Siemens Digital Industries, 2024.</a:t>
            </a:r>
          </a:p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500" dirty="0">
                <a:latin typeface="Times New Roman"/>
                <a:cs typeface="Times New Roman"/>
              </a:rPr>
              <a:t>[8] Universal Robots, “Understanding Protective Stops,” support article, 2026.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600000" y="2000000"/>
            <a:ext cx="7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Times New Roman"/>
                <a:cs typeface="Times New Roman"/>
              </a:rPr>
              <a:t>Thank You!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0000" y="4848668"/>
            <a:ext cx="5000000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cs typeface="Times New Roman"/>
                <a:hlinkClick r:id="rId2"/>
              </a:rPr>
              <a:t>GitHub Repository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10/20/2026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Case Study: FactoryDocs Assistant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FBA2-1CB6-1F4E-9BB3-885A90BDAFD4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1826</Words>
  <Application>Microsoft Office PowerPoint</Application>
  <PresentationFormat>Widescreen</PresentationFormat>
  <Paragraphs>294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FactoryDocs Assistant: A Retrieval-Augmented Chatbot for Robot Error Diagnosis in Production</vt:lpstr>
      <vt:lpstr>Introduction:</vt:lpstr>
      <vt:lpstr>Real-World Problem: Robot Stops</vt:lpstr>
      <vt:lpstr>Use Case: Robot Cell in Production &amp; Logistics:</vt:lpstr>
      <vt:lpstr>Project Scope:</vt:lpstr>
      <vt:lpstr>Objectives:</vt:lpstr>
      <vt:lpstr>Input and Output:</vt:lpstr>
      <vt:lpstr>Data: Four Public Manuals</vt:lpstr>
      <vt:lpstr>Project flow chart:</vt:lpstr>
      <vt:lpstr>Working Methodology:</vt:lpstr>
      <vt:lpstr>Technology Stack:</vt:lpstr>
      <vt:lpstr>What We Compare:</vt:lpstr>
      <vt:lpstr>Evaluation KPIs:</vt:lpstr>
      <vt:lpstr>Bill of Materials (BOM):</vt:lpstr>
      <vt:lpstr>PowerPoint Presentation</vt:lpstr>
      <vt:lpstr>Safety, Risks &amp; Ethical Checklist:</vt:lpstr>
      <vt:lpstr>Expected Outcomes &amp; Future Work:</vt:lpstr>
      <vt:lpstr>Bibliography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and  Comparision of Vision models for smart inspection cell</dc:title>
  <dc:creator>yaswitha Pallela</dc:creator>
  <cp:lastModifiedBy>SHILPA GOLLA</cp:lastModifiedBy>
  <cp:revision>52</cp:revision>
  <dcterms:created xsi:type="dcterms:W3CDTF">2025-10-13T08:49:29Z</dcterms:created>
  <dcterms:modified xsi:type="dcterms:W3CDTF">2026-10-23T12:19:20Z</dcterms:modified>
</cp:coreProperties>
</file>