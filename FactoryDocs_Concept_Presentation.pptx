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88" r:id="rId2"/>
    <p:sldId id="257" r:id="rId3"/>
    <p:sldId id="268" r:id="rId4"/>
    <p:sldId id="258" r:id="rId5"/>
    <p:sldId id="290" r:id="rId6"/>
    <p:sldId id="269" r:id="rId7"/>
    <p:sldId id="261" r:id="rId8"/>
    <p:sldId id="283" r:id="rId9"/>
    <p:sldId id="291" r:id="rId10"/>
    <p:sldId id="267" r:id="rId11"/>
    <p:sldId id="289" r:id="rId12"/>
    <p:sldId id="284" r:id="rId13"/>
    <p:sldId id="285" r:id="rId14"/>
    <p:sldId id="287" r:id="rId15"/>
    <p:sldId id="286" r:id="rId16"/>
    <p:sldId id="280" r:id="rId17"/>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C257CF-8ED9-F8E9-8E7C-C6A1BBAC3586}" v="96" dt="2025-10-15T11:28:08.689"/>
    <p1510:client id="{74BE93E2-CB97-350E-30CA-317D942E1F3B}" v="10" dt="2025-10-14T12:07:19.989"/>
    <p1510:client id="{952EF88F-4116-97A5-4962-1230BBCC7DA2}" v="178" dt="2025-10-14T09:32:46.859"/>
    <p1510:client id="{A61D329E-F635-F544-B702-D2E6BAF2BA0F}" v="635" dt="2025-10-15T09:04:55.68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2"/>
    <p:restoredTop sz="83082" autoAdjust="0"/>
  </p:normalViewPr>
  <p:slideViewPr>
    <p:cSldViewPr snapToGrid="0">
      <p:cViewPr varScale="1">
        <p:scale>
          <a:sx n="79" d="100"/>
          <a:sy n="79" d="100"/>
        </p:scale>
        <p:origin x="75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A21334-BA66-DB40-BAF6-2B22C7723DD9}" type="datetimeFigureOut">
              <a:rPr lang="en-DE" smtClean="0"/>
              <a:t>10/20/2026</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A0CC56-9DE8-D644-BF20-88B4C0DB7302}" type="slidenum">
              <a:rPr lang="en-DE" smtClean="0"/>
              <a:t>‹#›</a:t>
            </a:fld>
            <a:endParaRPr lang="en-DE"/>
          </a:p>
        </p:txBody>
      </p:sp>
    </p:spTree>
    <p:extLst>
      <p:ext uri="{BB962C8B-B14F-4D97-AF65-F5344CB8AC3E}">
        <p14:creationId xmlns:p14="http://schemas.microsoft.com/office/powerpoint/2010/main" val="4311000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B2A0CC56-9DE8-D644-BF20-88B4C0DB7302}" type="slidenum">
              <a:rPr lang="en-DE" smtClean="0"/>
              <a:t>1</a:t>
            </a:fld>
            <a:endParaRPr lang="en-DE"/>
          </a:p>
        </p:txBody>
      </p:sp>
    </p:spTree>
    <p:extLst>
      <p:ext uri="{BB962C8B-B14F-4D97-AF65-F5344CB8AC3E}">
        <p14:creationId xmlns:p14="http://schemas.microsoft.com/office/powerpoint/2010/main" val="1552428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B2A0CC56-9DE8-D644-BF20-88B4C0DB7302}" type="slidenum">
              <a:rPr lang="en-DE" smtClean="0"/>
              <a:t>11</a:t>
            </a:fld>
            <a:endParaRPr lang="en-DE"/>
          </a:p>
        </p:txBody>
      </p:sp>
    </p:spTree>
    <p:extLst>
      <p:ext uri="{BB962C8B-B14F-4D97-AF65-F5344CB8AC3E}">
        <p14:creationId xmlns:p14="http://schemas.microsoft.com/office/powerpoint/2010/main" val="27054592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CF021-9AC3-A873-381C-DBFC05B199F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E"/>
          </a:p>
        </p:txBody>
      </p:sp>
      <p:sp>
        <p:nvSpPr>
          <p:cNvPr id="3" name="Subtitle 2">
            <a:extLst>
              <a:ext uri="{FF2B5EF4-FFF2-40B4-BE49-F238E27FC236}">
                <a16:creationId xmlns:a16="http://schemas.microsoft.com/office/drawing/2014/main" id="{0AB4D7EC-6994-957D-2A01-DCB87CCF3D5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E"/>
          </a:p>
        </p:txBody>
      </p:sp>
      <p:sp>
        <p:nvSpPr>
          <p:cNvPr id="4" name="Date Placeholder 3">
            <a:extLst>
              <a:ext uri="{FF2B5EF4-FFF2-40B4-BE49-F238E27FC236}">
                <a16:creationId xmlns:a16="http://schemas.microsoft.com/office/drawing/2014/main" id="{406FD942-DF23-1A44-D504-138F3462D09D}"/>
              </a:ext>
            </a:extLst>
          </p:cNvPr>
          <p:cNvSpPr>
            <a:spLocks noGrp="1"/>
          </p:cNvSpPr>
          <p:nvPr>
            <p:ph type="dt" sz="half" idx="10"/>
          </p:nvPr>
        </p:nvSpPr>
        <p:spPr/>
        <p:txBody>
          <a:bodyPr/>
          <a:lstStyle/>
          <a:p>
            <a:fld id="{EECB69FA-CB31-4225-8774-6201BA3B2654}" type="datetime1">
              <a:rPr lang="en-US" smtClean="0"/>
              <a:t>10/20/2026</a:t>
            </a:fld>
            <a:endParaRPr lang="en-DE"/>
          </a:p>
        </p:txBody>
      </p:sp>
      <p:sp>
        <p:nvSpPr>
          <p:cNvPr id="5" name="Footer Placeholder 4">
            <a:extLst>
              <a:ext uri="{FF2B5EF4-FFF2-40B4-BE49-F238E27FC236}">
                <a16:creationId xmlns:a16="http://schemas.microsoft.com/office/drawing/2014/main" id="{6BE6FE0F-0E75-585C-1AF5-83CD09B12C05}"/>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7700C001-62E2-3BC7-6DFF-B928C21145DA}"/>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2104913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DFA60-504B-B09D-6E7C-2CE95DBAEC6B}"/>
              </a:ext>
            </a:extLst>
          </p:cNvPr>
          <p:cNvSpPr>
            <a:spLocks noGrp="1"/>
          </p:cNvSpPr>
          <p:nvPr>
            <p:ph type="title"/>
          </p:nvPr>
        </p:nvSpPr>
        <p:spPr/>
        <p:txBody>
          <a:bodyPr/>
          <a:lstStyle/>
          <a:p>
            <a:r>
              <a:rPr lang="en-GB"/>
              <a:t>Click to edit Master title style</a:t>
            </a:r>
            <a:endParaRPr lang="en-DE"/>
          </a:p>
        </p:txBody>
      </p:sp>
      <p:sp>
        <p:nvSpPr>
          <p:cNvPr id="3" name="Content Placeholder 2">
            <a:extLst>
              <a:ext uri="{FF2B5EF4-FFF2-40B4-BE49-F238E27FC236}">
                <a16:creationId xmlns:a16="http://schemas.microsoft.com/office/drawing/2014/main" id="{9D734484-0429-5854-48E9-018D347D144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Date Placeholder 3">
            <a:extLst>
              <a:ext uri="{FF2B5EF4-FFF2-40B4-BE49-F238E27FC236}">
                <a16:creationId xmlns:a16="http://schemas.microsoft.com/office/drawing/2014/main" id="{0D4237F0-A7BE-6F98-DEEE-1C1C77E75EB8}"/>
              </a:ext>
            </a:extLst>
          </p:cNvPr>
          <p:cNvSpPr>
            <a:spLocks noGrp="1"/>
          </p:cNvSpPr>
          <p:nvPr>
            <p:ph type="dt" sz="half" idx="10"/>
          </p:nvPr>
        </p:nvSpPr>
        <p:spPr/>
        <p:txBody>
          <a:bodyPr/>
          <a:lstStyle/>
          <a:p>
            <a:fld id="{A01736C7-67DF-4B04-A94D-56841F34FA11}" type="datetime1">
              <a:rPr lang="en-US" smtClean="0"/>
              <a:t>10/20/2026</a:t>
            </a:fld>
            <a:endParaRPr lang="en-DE"/>
          </a:p>
        </p:txBody>
      </p:sp>
      <p:sp>
        <p:nvSpPr>
          <p:cNvPr id="5" name="Footer Placeholder 4">
            <a:extLst>
              <a:ext uri="{FF2B5EF4-FFF2-40B4-BE49-F238E27FC236}">
                <a16:creationId xmlns:a16="http://schemas.microsoft.com/office/drawing/2014/main" id="{C0B5E9CA-47A3-F710-09B6-830B38448D2D}"/>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ADC71812-C4F9-6696-CCAD-83F0CE2104D2}"/>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3263727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BAB00-9207-B88D-5557-1884728BB73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E"/>
          </a:p>
        </p:txBody>
      </p:sp>
      <p:sp>
        <p:nvSpPr>
          <p:cNvPr id="3" name="Text Placeholder 2">
            <a:extLst>
              <a:ext uri="{FF2B5EF4-FFF2-40B4-BE49-F238E27FC236}">
                <a16:creationId xmlns:a16="http://schemas.microsoft.com/office/drawing/2014/main" id="{70B89B0A-B9F2-1ADA-F387-6EFFA66917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3E4DD4B-D839-37D2-7096-1A4BDEA5191D}"/>
              </a:ext>
            </a:extLst>
          </p:cNvPr>
          <p:cNvSpPr>
            <a:spLocks noGrp="1"/>
          </p:cNvSpPr>
          <p:nvPr>
            <p:ph type="dt" sz="half" idx="10"/>
          </p:nvPr>
        </p:nvSpPr>
        <p:spPr/>
        <p:txBody>
          <a:bodyPr/>
          <a:lstStyle/>
          <a:p>
            <a:fld id="{FA3DF760-44DB-4C6C-B540-17589643C014}" type="datetime1">
              <a:rPr lang="en-US" smtClean="0"/>
              <a:t>10/20/2026</a:t>
            </a:fld>
            <a:endParaRPr lang="en-DE"/>
          </a:p>
        </p:txBody>
      </p:sp>
      <p:sp>
        <p:nvSpPr>
          <p:cNvPr id="5" name="Footer Placeholder 4">
            <a:extLst>
              <a:ext uri="{FF2B5EF4-FFF2-40B4-BE49-F238E27FC236}">
                <a16:creationId xmlns:a16="http://schemas.microsoft.com/office/drawing/2014/main" id="{59281A67-B777-D9B2-BA1B-DBBEE6696B58}"/>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8D3F9D5E-560E-F104-0805-81B4BE500536}"/>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21553631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A143A-560A-8222-4C1C-83F8A3059FF7}"/>
              </a:ext>
            </a:extLst>
          </p:cNvPr>
          <p:cNvSpPr>
            <a:spLocks noGrp="1"/>
          </p:cNvSpPr>
          <p:nvPr>
            <p:ph type="title"/>
          </p:nvPr>
        </p:nvSpPr>
        <p:spPr/>
        <p:txBody>
          <a:bodyPr/>
          <a:lstStyle/>
          <a:p>
            <a:r>
              <a:rPr lang="en-GB"/>
              <a:t>Click to edit Master title style</a:t>
            </a:r>
            <a:endParaRPr lang="en-DE"/>
          </a:p>
        </p:txBody>
      </p:sp>
      <p:sp>
        <p:nvSpPr>
          <p:cNvPr id="3" name="Content Placeholder 2">
            <a:extLst>
              <a:ext uri="{FF2B5EF4-FFF2-40B4-BE49-F238E27FC236}">
                <a16:creationId xmlns:a16="http://schemas.microsoft.com/office/drawing/2014/main" id="{6B491511-E66D-F6DD-12D6-A55C02181E1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Content Placeholder 3">
            <a:extLst>
              <a:ext uri="{FF2B5EF4-FFF2-40B4-BE49-F238E27FC236}">
                <a16:creationId xmlns:a16="http://schemas.microsoft.com/office/drawing/2014/main" id="{875B5F0B-EC5E-DEF8-361B-12ABE25CC4D3}"/>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5" name="Date Placeholder 4">
            <a:extLst>
              <a:ext uri="{FF2B5EF4-FFF2-40B4-BE49-F238E27FC236}">
                <a16:creationId xmlns:a16="http://schemas.microsoft.com/office/drawing/2014/main" id="{BBB34199-0951-4AC9-FFD9-A4F55FE6B9CC}"/>
              </a:ext>
            </a:extLst>
          </p:cNvPr>
          <p:cNvSpPr>
            <a:spLocks noGrp="1"/>
          </p:cNvSpPr>
          <p:nvPr>
            <p:ph type="dt" sz="half" idx="10"/>
          </p:nvPr>
        </p:nvSpPr>
        <p:spPr/>
        <p:txBody>
          <a:bodyPr/>
          <a:lstStyle/>
          <a:p>
            <a:fld id="{45069799-BFC0-42F4-AFE1-0D176C544888}" type="datetime1">
              <a:rPr lang="en-US" smtClean="0"/>
              <a:t>10/20/2026</a:t>
            </a:fld>
            <a:endParaRPr lang="en-DE"/>
          </a:p>
        </p:txBody>
      </p:sp>
      <p:sp>
        <p:nvSpPr>
          <p:cNvPr id="6" name="Footer Placeholder 5">
            <a:extLst>
              <a:ext uri="{FF2B5EF4-FFF2-40B4-BE49-F238E27FC236}">
                <a16:creationId xmlns:a16="http://schemas.microsoft.com/office/drawing/2014/main" id="{0BD08F80-FC68-6E9C-D814-00AFB72AA404}"/>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7" name="Slide Number Placeholder 6">
            <a:extLst>
              <a:ext uri="{FF2B5EF4-FFF2-40B4-BE49-F238E27FC236}">
                <a16:creationId xmlns:a16="http://schemas.microsoft.com/office/drawing/2014/main" id="{B22C4074-035A-B3F6-B6F3-CC327C7BAD99}"/>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35172984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055A6-0864-D91F-A040-ADEF82848CED}"/>
              </a:ext>
            </a:extLst>
          </p:cNvPr>
          <p:cNvSpPr>
            <a:spLocks noGrp="1"/>
          </p:cNvSpPr>
          <p:nvPr>
            <p:ph type="title"/>
          </p:nvPr>
        </p:nvSpPr>
        <p:spPr>
          <a:xfrm>
            <a:off x="839788" y="365125"/>
            <a:ext cx="10515600" cy="1325563"/>
          </a:xfrm>
        </p:spPr>
        <p:txBody>
          <a:bodyPr/>
          <a:lstStyle/>
          <a:p>
            <a:r>
              <a:rPr lang="en-GB"/>
              <a:t>Click to edit Master title style</a:t>
            </a:r>
            <a:endParaRPr lang="en-DE"/>
          </a:p>
        </p:txBody>
      </p:sp>
      <p:sp>
        <p:nvSpPr>
          <p:cNvPr id="3" name="Text Placeholder 2">
            <a:extLst>
              <a:ext uri="{FF2B5EF4-FFF2-40B4-BE49-F238E27FC236}">
                <a16:creationId xmlns:a16="http://schemas.microsoft.com/office/drawing/2014/main" id="{C7B24FD7-BF98-7C3E-4735-0CCDC1E89C5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C9B93A5-41BB-151F-F955-CDC06226C5F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5" name="Text Placeholder 4">
            <a:extLst>
              <a:ext uri="{FF2B5EF4-FFF2-40B4-BE49-F238E27FC236}">
                <a16:creationId xmlns:a16="http://schemas.microsoft.com/office/drawing/2014/main" id="{792B36DC-B91C-50C2-84BA-FC757DDF2E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4BE8B91-83E8-2A21-0A2E-4F520384B6AB}"/>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7" name="Date Placeholder 6">
            <a:extLst>
              <a:ext uri="{FF2B5EF4-FFF2-40B4-BE49-F238E27FC236}">
                <a16:creationId xmlns:a16="http://schemas.microsoft.com/office/drawing/2014/main" id="{72989513-021B-5B5F-2AB4-7A830D93EA93}"/>
              </a:ext>
            </a:extLst>
          </p:cNvPr>
          <p:cNvSpPr>
            <a:spLocks noGrp="1"/>
          </p:cNvSpPr>
          <p:nvPr>
            <p:ph type="dt" sz="half" idx="10"/>
          </p:nvPr>
        </p:nvSpPr>
        <p:spPr/>
        <p:txBody>
          <a:bodyPr/>
          <a:lstStyle/>
          <a:p>
            <a:fld id="{4C3BB2E0-D036-4586-BA61-E1F0645B7038}" type="datetime1">
              <a:rPr lang="en-US" smtClean="0"/>
              <a:t>10/20/2026</a:t>
            </a:fld>
            <a:endParaRPr lang="en-DE"/>
          </a:p>
        </p:txBody>
      </p:sp>
      <p:sp>
        <p:nvSpPr>
          <p:cNvPr id="8" name="Footer Placeholder 7">
            <a:extLst>
              <a:ext uri="{FF2B5EF4-FFF2-40B4-BE49-F238E27FC236}">
                <a16:creationId xmlns:a16="http://schemas.microsoft.com/office/drawing/2014/main" id="{7842DEEC-C9D9-6284-D428-F233CA1688CD}"/>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9" name="Slide Number Placeholder 8">
            <a:extLst>
              <a:ext uri="{FF2B5EF4-FFF2-40B4-BE49-F238E27FC236}">
                <a16:creationId xmlns:a16="http://schemas.microsoft.com/office/drawing/2014/main" id="{067B4F18-C3A3-895B-8A04-2B7197CD8A5D}"/>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14099298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003C5-78C3-4B87-31A8-6B5ED20DC5AF}"/>
              </a:ext>
            </a:extLst>
          </p:cNvPr>
          <p:cNvSpPr>
            <a:spLocks noGrp="1"/>
          </p:cNvSpPr>
          <p:nvPr>
            <p:ph type="title"/>
          </p:nvPr>
        </p:nvSpPr>
        <p:spPr/>
        <p:txBody>
          <a:bodyPr/>
          <a:lstStyle/>
          <a:p>
            <a:r>
              <a:rPr lang="en-GB"/>
              <a:t>Click to edit Master title style</a:t>
            </a:r>
            <a:endParaRPr lang="en-DE"/>
          </a:p>
        </p:txBody>
      </p:sp>
      <p:sp>
        <p:nvSpPr>
          <p:cNvPr id="3" name="Date Placeholder 2">
            <a:extLst>
              <a:ext uri="{FF2B5EF4-FFF2-40B4-BE49-F238E27FC236}">
                <a16:creationId xmlns:a16="http://schemas.microsoft.com/office/drawing/2014/main" id="{92FB6E1A-2FE3-FA81-59E7-30D1B74D2A52}"/>
              </a:ext>
            </a:extLst>
          </p:cNvPr>
          <p:cNvSpPr>
            <a:spLocks noGrp="1"/>
          </p:cNvSpPr>
          <p:nvPr>
            <p:ph type="dt" sz="half" idx="10"/>
          </p:nvPr>
        </p:nvSpPr>
        <p:spPr/>
        <p:txBody>
          <a:bodyPr/>
          <a:lstStyle/>
          <a:p>
            <a:fld id="{87A6FBF3-05C0-4410-97F4-1F241ADD1A85}" type="datetime1">
              <a:rPr lang="en-US" smtClean="0"/>
              <a:t>10/20/2026</a:t>
            </a:fld>
            <a:endParaRPr lang="en-DE"/>
          </a:p>
        </p:txBody>
      </p:sp>
      <p:sp>
        <p:nvSpPr>
          <p:cNvPr id="4" name="Footer Placeholder 3">
            <a:extLst>
              <a:ext uri="{FF2B5EF4-FFF2-40B4-BE49-F238E27FC236}">
                <a16:creationId xmlns:a16="http://schemas.microsoft.com/office/drawing/2014/main" id="{05E7C422-EE22-42BC-A9CF-64D85DBF0C0A}"/>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5" name="Slide Number Placeholder 4">
            <a:extLst>
              <a:ext uri="{FF2B5EF4-FFF2-40B4-BE49-F238E27FC236}">
                <a16:creationId xmlns:a16="http://schemas.microsoft.com/office/drawing/2014/main" id="{19E83996-3544-F68A-D3F7-6C91AD12A9F8}"/>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3173724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BF77BB8-964E-F819-2378-F0F49C8709F6}"/>
              </a:ext>
            </a:extLst>
          </p:cNvPr>
          <p:cNvSpPr>
            <a:spLocks noGrp="1"/>
          </p:cNvSpPr>
          <p:nvPr>
            <p:ph type="dt" sz="half" idx="10"/>
          </p:nvPr>
        </p:nvSpPr>
        <p:spPr/>
        <p:txBody>
          <a:bodyPr/>
          <a:lstStyle/>
          <a:p>
            <a:fld id="{61E4B69B-925F-406A-BB2E-3A95A65DA62D}" type="datetime1">
              <a:rPr lang="en-US" smtClean="0"/>
              <a:t>10/20/2026</a:t>
            </a:fld>
            <a:endParaRPr lang="en-DE"/>
          </a:p>
        </p:txBody>
      </p:sp>
      <p:sp>
        <p:nvSpPr>
          <p:cNvPr id="3" name="Footer Placeholder 2">
            <a:extLst>
              <a:ext uri="{FF2B5EF4-FFF2-40B4-BE49-F238E27FC236}">
                <a16:creationId xmlns:a16="http://schemas.microsoft.com/office/drawing/2014/main" id="{1705B863-7262-5B41-6721-635E041164DC}"/>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4" name="Slide Number Placeholder 3">
            <a:extLst>
              <a:ext uri="{FF2B5EF4-FFF2-40B4-BE49-F238E27FC236}">
                <a16:creationId xmlns:a16="http://schemas.microsoft.com/office/drawing/2014/main" id="{A4799EC5-7ACA-0E4A-052C-54CF19D3B071}"/>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12050040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29544-9012-6916-7216-1E606F48AC3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E"/>
          </a:p>
        </p:txBody>
      </p:sp>
      <p:sp>
        <p:nvSpPr>
          <p:cNvPr id="3" name="Content Placeholder 2">
            <a:extLst>
              <a:ext uri="{FF2B5EF4-FFF2-40B4-BE49-F238E27FC236}">
                <a16:creationId xmlns:a16="http://schemas.microsoft.com/office/drawing/2014/main" id="{1FCFD2A6-81DE-F306-A979-72AAC62919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Text Placeholder 3">
            <a:extLst>
              <a:ext uri="{FF2B5EF4-FFF2-40B4-BE49-F238E27FC236}">
                <a16:creationId xmlns:a16="http://schemas.microsoft.com/office/drawing/2014/main" id="{411ED4FB-2779-E553-48F4-CCBA603F0C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7B28CB4-E490-03ED-6DB7-05D10D6DA292}"/>
              </a:ext>
            </a:extLst>
          </p:cNvPr>
          <p:cNvSpPr>
            <a:spLocks noGrp="1"/>
          </p:cNvSpPr>
          <p:nvPr>
            <p:ph type="dt" sz="half" idx="10"/>
          </p:nvPr>
        </p:nvSpPr>
        <p:spPr/>
        <p:txBody>
          <a:bodyPr/>
          <a:lstStyle/>
          <a:p>
            <a:fld id="{BCAF6A95-D498-467B-842C-6A1180EBCC0A}" type="datetime1">
              <a:rPr lang="en-US" smtClean="0"/>
              <a:t>10/20/2026</a:t>
            </a:fld>
            <a:endParaRPr lang="en-DE"/>
          </a:p>
        </p:txBody>
      </p:sp>
      <p:sp>
        <p:nvSpPr>
          <p:cNvPr id="6" name="Footer Placeholder 5">
            <a:extLst>
              <a:ext uri="{FF2B5EF4-FFF2-40B4-BE49-F238E27FC236}">
                <a16:creationId xmlns:a16="http://schemas.microsoft.com/office/drawing/2014/main" id="{32620B77-B289-F0F8-426E-50F17A1FD740}"/>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7" name="Slide Number Placeholder 6">
            <a:extLst>
              <a:ext uri="{FF2B5EF4-FFF2-40B4-BE49-F238E27FC236}">
                <a16:creationId xmlns:a16="http://schemas.microsoft.com/office/drawing/2014/main" id="{F7451D3E-8F02-F982-64A3-82A8914FA04F}"/>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937379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4F2A5-14F0-E216-CBC1-BC3A6BA2FEC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E"/>
          </a:p>
        </p:txBody>
      </p:sp>
      <p:sp>
        <p:nvSpPr>
          <p:cNvPr id="3" name="Picture Placeholder 2">
            <a:extLst>
              <a:ext uri="{FF2B5EF4-FFF2-40B4-BE49-F238E27FC236}">
                <a16:creationId xmlns:a16="http://schemas.microsoft.com/office/drawing/2014/main" id="{E6A5A376-47AE-1EB9-9A8A-53F5BBE31A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 Placeholder 3">
            <a:extLst>
              <a:ext uri="{FF2B5EF4-FFF2-40B4-BE49-F238E27FC236}">
                <a16:creationId xmlns:a16="http://schemas.microsoft.com/office/drawing/2014/main" id="{1BBDCF7B-5473-F74F-8E6A-F7428E21826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C667CAD-A79D-ED34-811D-4D4D686D4B1E}"/>
              </a:ext>
            </a:extLst>
          </p:cNvPr>
          <p:cNvSpPr>
            <a:spLocks noGrp="1"/>
          </p:cNvSpPr>
          <p:nvPr>
            <p:ph type="dt" sz="half" idx="10"/>
          </p:nvPr>
        </p:nvSpPr>
        <p:spPr/>
        <p:txBody>
          <a:bodyPr/>
          <a:lstStyle/>
          <a:p>
            <a:fld id="{D98D1015-35EE-49F2-9BC3-B1261FA7ADDE}" type="datetime1">
              <a:rPr lang="en-US" smtClean="0"/>
              <a:t>10/20/2026</a:t>
            </a:fld>
            <a:endParaRPr lang="en-DE"/>
          </a:p>
        </p:txBody>
      </p:sp>
      <p:sp>
        <p:nvSpPr>
          <p:cNvPr id="6" name="Footer Placeholder 5">
            <a:extLst>
              <a:ext uri="{FF2B5EF4-FFF2-40B4-BE49-F238E27FC236}">
                <a16:creationId xmlns:a16="http://schemas.microsoft.com/office/drawing/2014/main" id="{7EBEA400-CB25-4425-DFCE-825312DA9F31}"/>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7" name="Slide Number Placeholder 6">
            <a:extLst>
              <a:ext uri="{FF2B5EF4-FFF2-40B4-BE49-F238E27FC236}">
                <a16:creationId xmlns:a16="http://schemas.microsoft.com/office/drawing/2014/main" id="{5821745F-9DA2-63B9-14BD-AE1E238F54AE}"/>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2109710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F151C-685E-BA32-DCAE-BDFB675FE65B}"/>
              </a:ext>
            </a:extLst>
          </p:cNvPr>
          <p:cNvSpPr>
            <a:spLocks noGrp="1"/>
          </p:cNvSpPr>
          <p:nvPr>
            <p:ph type="title"/>
          </p:nvPr>
        </p:nvSpPr>
        <p:spPr/>
        <p:txBody>
          <a:bodyPr/>
          <a:lstStyle/>
          <a:p>
            <a:r>
              <a:rPr lang="en-GB"/>
              <a:t>Click to edit Master title style</a:t>
            </a:r>
            <a:endParaRPr lang="en-DE"/>
          </a:p>
        </p:txBody>
      </p:sp>
      <p:sp>
        <p:nvSpPr>
          <p:cNvPr id="3" name="Vertical Text Placeholder 2">
            <a:extLst>
              <a:ext uri="{FF2B5EF4-FFF2-40B4-BE49-F238E27FC236}">
                <a16:creationId xmlns:a16="http://schemas.microsoft.com/office/drawing/2014/main" id="{C6DE237A-A308-C300-76A7-C3701B5672B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Date Placeholder 3">
            <a:extLst>
              <a:ext uri="{FF2B5EF4-FFF2-40B4-BE49-F238E27FC236}">
                <a16:creationId xmlns:a16="http://schemas.microsoft.com/office/drawing/2014/main" id="{C16ADC08-2726-85F5-B9B2-51F71E18CD6F}"/>
              </a:ext>
            </a:extLst>
          </p:cNvPr>
          <p:cNvSpPr>
            <a:spLocks noGrp="1"/>
          </p:cNvSpPr>
          <p:nvPr>
            <p:ph type="dt" sz="half" idx="10"/>
          </p:nvPr>
        </p:nvSpPr>
        <p:spPr/>
        <p:txBody>
          <a:bodyPr/>
          <a:lstStyle/>
          <a:p>
            <a:fld id="{86FD8917-A7C1-41B8-BFAE-465241F9C3D4}" type="datetime1">
              <a:rPr lang="en-US" smtClean="0"/>
              <a:t>10/20/2026</a:t>
            </a:fld>
            <a:endParaRPr lang="en-DE"/>
          </a:p>
        </p:txBody>
      </p:sp>
      <p:sp>
        <p:nvSpPr>
          <p:cNvPr id="5" name="Footer Placeholder 4">
            <a:extLst>
              <a:ext uri="{FF2B5EF4-FFF2-40B4-BE49-F238E27FC236}">
                <a16:creationId xmlns:a16="http://schemas.microsoft.com/office/drawing/2014/main" id="{92A535EF-45D9-697A-EF75-7B87801AD471}"/>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7A23F17E-50FE-78BD-16EC-27BA42F555F6}"/>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5125629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A8D65B6-5E97-8525-5C36-89CB178B94FF}"/>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E"/>
          </a:p>
        </p:txBody>
      </p:sp>
      <p:sp>
        <p:nvSpPr>
          <p:cNvPr id="3" name="Vertical Text Placeholder 2">
            <a:extLst>
              <a:ext uri="{FF2B5EF4-FFF2-40B4-BE49-F238E27FC236}">
                <a16:creationId xmlns:a16="http://schemas.microsoft.com/office/drawing/2014/main" id="{C60DDD5C-0FC5-9294-8CF4-AFFD4DA1FF9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Date Placeholder 3">
            <a:extLst>
              <a:ext uri="{FF2B5EF4-FFF2-40B4-BE49-F238E27FC236}">
                <a16:creationId xmlns:a16="http://schemas.microsoft.com/office/drawing/2014/main" id="{CB182AB4-2DDB-0B80-7B18-ACDF3011D479}"/>
              </a:ext>
            </a:extLst>
          </p:cNvPr>
          <p:cNvSpPr>
            <a:spLocks noGrp="1"/>
          </p:cNvSpPr>
          <p:nvPr>
            <p:ph type="dt" sz="half" idx="10"/>
          </p:nvPr>
        </p:nvSpPr>
        <p:spPr/>
        <p:txBody>
          <a:bodyPr/>
          <a:lstStyle/>
          <a:p>
            <a:fld id="{609C972F-C4A1-4882-B997-9AB6AD1D6520}" type="datetime1">
              <a:rPr lang="en-US" smtClean="0"/>
              <a:t>10/20/2026</a:t>
            </a:fld>
            <a:endParaRPr lang="en-DE"/>
          </a:p>
        </p:txBody>
      </p:sp>
      <p:sp>
        <p:nvSpPr>
          <p:cNvPr id="5" name="Footer Placeholder 4">
            <a:extLst>
              <a:ext uri="{FF2B5EF4-FFF2-40B4-BE49-F238E27FC236}">
                <a16:creationId xmlns:a16="http://schemas.microsoft.com/office/drawing/2014/main" id="{9447FB16-C188-3AC8-C546-B306BB25019E}"/>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EDBA3093-6DA8-3806-CD62-A67FCC32BDBF}"/>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21393835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8C0B582-E83B-8C6B-62D6-2E4423FAC0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E"/>
          </a:p>
        </p:txBody>
      </p:sp>
      <p:sp>
        <p:nvSpPr>
          <p:cNvPr id="3" name="Text Placeholder 2">
            <a:extLst>
              <a:ext uri="{FF2B5EF4-FFF2-40B4-BE49-F238E27FC236}">
                <a16:creationId xmlns:a16="http://schemas.microsoft.com/office/drawing/2014/main" id="{75A65E92-A2CD-0EFD-35CD-E030D056CF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Date Placeholder 3">
            <a:extLst>
              <a:ext uri="{FF2B5EF4-FFF2-40B4-BE49-F238E27FC236}">
                <a16:creationId xmlns:a16="http://schemas.microsoft.com/office/drawing/2014/main" id="{E6B45A36-C7D9-600D-038B-5FE45C075C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9EBD3CE-29AB-4F97-9A20-DAADF5E3AA7A}" type="datetime1">
              <a:rPr lang="en-US" smtClean="0"/>
              <a:t>10/20/2026</a:t>
            </a:fld>
            <a:endParaRPr lang="en-DE"/>
          </a:p>
        </p:txBody>
      </p:sp>
      <p:sp>
        <p:nvSpPr>
          <p:cNvPr id="5" name="Footer Placeholder 4">
            <a:extLst>
              <a:ext uri="{FF2B5EF4-FFF2-40B4-BE49-F238E27FC236}">
                <a16:creationId xmlns:a16="http://schemas.microsoft.com/office/drawing/2014/main" id="{3AC00AA2-07B6-2B36-266E-95F1C306F7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125FD303-8AD8-26D9-AAD0-BD7982556E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FABFBA2-1CB6-1F4E-9BB3-885A90BDAFD4}" type="slidenum">
              <a:rPr lang="en-DE" smtClean="0"/>
              <a:t>‹#›</a:t>
            </a:fld>
            <a:endParaRPr lang="en-DE"/>
          </a:p>
        </p:txBody>
      </p:sp>
    </p:spTree>
    <p:extLst>
      <p:ext uri="{BB962C8B-B14F-4D97-AF65-F5344CB8AC3E}">
        <p14:creationId xmlns:p14="http://schemas.microsoft.com/office/powerpoint/2010/main" val="37857352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Shilpa-Golla/FactoryDocs-Assistant-A-Retrieval-Augmented-Chatbot-for-Production-and-Logistics-Manuals"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86748"/>
            <a:ext cx="10515600" cy="1600000"/>
          </a:xfrm>
        </p:spPr>
        <p:txBody>
          <a:bodyPr anchor="b">
            <a:normAutofit/>
          </a:bodyPr>
          <a:lstStyle/>
          <a:p>
            <a:pPr algn="ctr"/>
            <a:r>
              <a:rPr lang="en-US" sz="3600" b="1" dirty="0">
                <a:latin typeface="Times New Roman"/>
                <a:cs typeface="Times New Roman"/>
              </a:rPr>
              <a:t>FactoryDocs Assistant: A RAG Chatbot for Production and Logistics Manuals</a:t>
            </a:r>
          </a:p>
        </p:txBody>
      </p:sp>
      <p:pic>
        <p:nvPicPr>
          <p:cNvPr id="3" name="THD Logo" descr="Deggendorf Institute of Technology logo"/>
          <p:cNvPicPr>
            <a:picLocks noChangeAspect="1"/>
          </p:cNvPicPr>
          <p:nvPr/>
        </p:nvPicPr>
        <p:blipFill rotWithShape="1">
          <a:blip r:embed="rId3"/>
          <a:stretch/>
        </p:blipFill>
        <p:spPr bwMode="auto">
          <a:xfrm>
            <a:off x="4533089" y="2043097"/>
            <a:ext cx="2892584" cy="1293489"/>
          </a:xfrm>
          <a:prstGeom prst="rect">
            <a:avLst/>
          </a:prstGeom>
          <a:noFill/>
        </p:spPr>
      </p:pic>
      <p:sp>
        <p:nvSpPr>
          <p:cNvPr id="11" name="TextBox 11"/>
          <p:cNvSpPr txBox="1"/>
          <p:nvPr/>
        </p:nvSpPr>
        <p:spPr>
          <a:xfrm>
            <a:off x="522514" y="3700000"/>
            <a:ext cx="5200000" cy="2500000"/>
          </a:xfrm>
          <a:prstGeom prst="rect">
            <a:avLst/>
          </a:prstGeom>
          <a:noFill/>
          <a:ln>
            <a:noFill/>
          </a:ln>
        </p:spPr>
        <p:txBody>
          <a:bodyPr wrap="square" lIns="91440" tIns="45720" rIns="91440" bIns="45720" anchor="t">
            <a:normAutofit/>
          </a:bodyPr>
          <a:lstStyle/>
          <a:p>
            <a:pPr marL="0" indent="0" algn="l">
              <a:spcBef>
                <a:spcPts val="0"/>
              </a:spcBef>
              <a:spcAft>
                <a:spcPts val="300"/>
              </a:spcAft>
              <a:buNone/>
            </a:pPr>
            <a:r>
              <a:rPr lang="en-US" sz="2400" b="1" dirty="0">
                <a:latin typeface="Times New Roman"/>
                <a:cs typeface="Times New Roman"/>
              </a:rPr>
              <a:t>Team Members:</a:t>
            </a:r>
          </a:p>
          <a:p>
            <a:pPr>
              <a:spcAft>
                <a:spcPts val="200"/>
              </a:spcAft>
            </a:pPr>
            <a:r>
              <a:rPr lang="en-US" sz="2000" dirty="0">
                <a:latin typeface="Times New Roman"/>
                <a:cs typeface="Times New Roman"/>
              </a:rPr>
              <a:t>Divi Teja </a:t>
            </a:r>
            <a:r>
              <a:rPr lang="en-US" sz="2000" dirty="0" err="1">
                <a:latin typeface="Times New Roman"/>
                <a:cs typeface="Times New Roman"/>
              </a:rPr>
              <a:t>Dimmiti</a:t>
            </a:r>
            <a:r>
              <a:rPr lang="en-US" sz="2000" dirty="0">
                <a:latin typeface="Times New Roman"/>
                <a:cs typeface="Times New Roman"/>
              </a:rPr>
              <a:t> (</a:t>
            </a:r>
            <a:r>
              <a:rPr lang="en-US" dirty="0"/>
              <a:t>Team</a:t>
            </a:r>
            <a:r>
              <a:rPr lang="en-US" b="1" dirty="0"/>
              <a:t> </a:t>
            </a:r>
            <a:r>
              <a:rPr lang="en-US" dirty="0"/>
              <a:t>Lead</a:t>
            </a:r>
            <a:r>
              <a:rPr lang="en-US" b="1" dirty="0"/>
              <a:t> ,</a:t>
            </a:r>
            <a:r>
              <a:rPr lang="en-US" dirty="0"/>
              <a:t>RAG</a:t>
            </a:r>
            <a:r>
              <a:rPr lang="en-US" b="1" dirty="0"/>
              <a:t> </a:t>
            </a:r>
            <a:r>
              <a:rPr lang="en-US" dirty="0"/>
              <a:t>pipeline</a:t>
            </a:r>
            <a:r>
              <a:rPr lang="en-US" sz="2000" dirty="0">
                <a:latin typeface="Times New Roman"/>
                <a:cs typeface="Times New Roman"/>
              </a:rPr>
              <a:t>)</a:t>
            </a:r>
          </a:p>
          <a:p>
            <a:pPr>
              <a:spcAft>
                <a:spcPts val="200"/>
              </a:spcAft>
            </a:pPr>
            <a:r>
              <a:rPr lang="en-US" sz="2000" dirty="0">
                <a:latin typeface="Times New Roman"/>
                <a:cs typeface="Times New Roman"/>
              </a:rPr>
              <a:t>Shilpa Golla(LLM&amp; </a:t>
            </a:r>
            <a:r>
              <a:rPr lang="en-IN" sz="2000" dirty="0"/>
              <a:t>Data &amp; test set)</a:t>
            </a:r>
            <a:endParaRPr lang="en-US" sz="2000" dirty="0">
              <a:latin typeface="Times New Roman"/>
              <a:cs typeface="Times New Roman"/>
            </a:endParaRPr>
          </a:p>
          <a:p>
            <a:pPr>
              <a:spcAft>
                <a:spcPts val="200"/>
              </a:spcAft>
            </a:pPr>
            <a:r>
              <a:rPr lang="en-US" sz="2000" dirty="0">
                <a:latin typeface="Times New Roman"/>
                <a:cs typeface="Times New Roman"/>
              </a:rPr>
              <a:t>Vijay Boyapati(</a:t>
            </a:r>
            <a:r>
              <a:rPr lang="en-IN" sz="2000" dirty="0"/>
              <a:t>Evaluation &amp; demo)</a:t>
            </a:r>
            <a:endParaRPr lang="en-US" sz="2000" dirty="0">
              <a:latin typeface="Times New Roman"/>
              <a:cs typeface="Times New Roman"/>
            </a:endParaRPr>
          </a:p>
        </p:txBody>
      </p:sp>
      <p:sp>
        <p:nvSpPr>
          <p:cNvPr id="12" name="TextBox 12"/>
          <p:cNvSpPr txBox="1"/>
          <p:nvPr/>
        </p:nvSpPr>
        <p:spPr>
          <a:xfrm>
            <a:off x="4400000" y="3700000"/>
            <a:ext cx="3400000" cy="600000"/>
          </a:xfrm>
          <a:prstGeom prst="rect">
            <a:avLst/>
          </a:prstGeom>
          <a:noFill/>
          <a:ln>
            <a:noFill/>
          </a:ln>
        </p:spPr>
        <p:txBody>
          <a:bodyPr wrap="square" lIns="91440" tIns="45720" rIns="91440" bIns="45720" anchor="t">
            <a:normAutofit fontScale="92500"/>
          </a:bodyPr>
          <a:lstStyle/>
          <a:p>
            <a:pPr marL="0" indent="0" algn="ctr">
              <a:spcBef>
                <a:spcPts val="0"/>
              </a:spcBef>
              <a:spcAft>
                <a:spcPts val="0"/>
              </a:spcAft>
              <a:buNone/>
            </a:pPr>
            <a:r>
              <a:rPr lang="en-US" sz="2800" b="1" dirty="0">
                <a:latin typeface="Times New Roman"/>
                <a:cs typeface="Times New Roman"/>
              </a:rPr>
              <a:t>Concept Presentation</a:t>
            </a:r>
          </a:p>
        </p:txBody>
      </p:sp>
      <p:sp>
        <p:nvSpPr>
          <p:cNvPr id="13" name="TextBox 13"/>
          <p:cNvSpPr txBox="1"/>
          <p:nvPr/>
        </p:nvSpPr>
        <p:spPr>
          <a:xfrm>
            <a:off x="8300000" y="4700000"/>
            <a:ext cx="3500000" cy="1200000"/>
          </a:xfrm>
          <a:prstGeom prst="rect">
            <a:avLst/>
          </a:prstGeom>
          <a:noFill/>
          <a:ln>
            <a:noFill/>
          </a:ln>
        </p:spPr>
        <p:txBody>
          <a:bodyPr wrap="square" lIns="91440" tIns="45720" rIns="91440" bIns="45720" anchor="t">
            <a:normAutofit/>
          </a:bodyPr>
          <a:lstStyle/>
          <a:p>
            <a:pPr marL="0" indent="0" algn="l">
              <a:spcBef>
                <a:spcPts val="0"/>
              </a:spcBef>
              <a:spcAft>
                <a:spcPts val="300"/>
              </a:spcAft>
              <a:buNone/>
            </a:pPr>
            <a:r>
              <a:rPr lang="en-US" sz="2000" b="1" dirty="0">
                <a:latin typeface="Times New Roman"/>
                <a:cs typeface="Times New Roman"/>
              </a:rPr>
              <a:t>Guided by:</a:t>
            </a:r>
          </a:p>
          <a:p>
            <a:pPr marL="0" indent="0" algn="l">
              <a:spcBef>
                <a:spcPts val="0"/>
              </a:spcBef>
              <a:spcAft>
                <a:spcPts val="0"/>
              </a:spcAft>
              <a:buNone/>
            </a:pPr>
            <a:r>
              <a:rPr lang="en-US" sz="2000" dirty="0">
                <a:latin typeface="Times New Roman"/>
                <a:cs typeface="Times New Roman"/>
              </a:rPr>
              <a:t>Hamidreza Heidari, PhD</a:t>
            </a:r>
          </a:p>
        </p:txBody>
      </p:sp>
      <p:sp>
        <p:nvSpPr>
          <p:cNvPr id="5" name="Date Placeholder 4"/>
          <p:cNvSpPr>
            <a:spLocks noGrp="1"/>
          </p:cNvSpPr>
          <p:nvPr>
            <p:ph type="dt" sz="half" idx="10"/>
          </p:nvPr>
        </p:nvSpPr>
        <p:spPr>
          <a:xfrm>
            <a:off x="379379" y="6356350"/>
            <a:ext cx="3202021" cy="365125"/>
          </a:xfrm>
        </p:spPr>
        <p:txBody>
          <a:bodyPr/>
          <a:lstStyle/>
          <a:p>
            <a:r>
              <a:rPr lang="en-US" dirty="0"/>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a:t>
            </a:fld>
            <a:endParaRPr lang="en-US"/>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8822" y="313532"/>
            <a:ext cx="8300000" cy="1030286"/>
          </a:xfrm>
        </p:spPr>
        <p:txBody>
          <a:bodyPr>
            <a:normAutofit/>
          </a:bodyPr>
          <a:lstStyle/>
          <a:p>
            <a:r>
              <a:rPr lang="en-US" sz="3600" b="1" dirty="0">
                <a:latin typeface="Times New Roman"/>
                <a:cs typeface="Times New Roman"/>
              </a:rPr>
              <a:t>Introduction:</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601884" y="1500000"/>
            <a:ext cx="10900000" cy="4700000"/>
          </a:xfrm>
          <a:prstGeom prst="rect">
            <a:avLst/>
          </a:prstGeom>
          <a:noFill/>
          <a:ln>
            <a:noFill/>
          </a:ln>
        </p:spPr>
        <p:txBody>
          <a:bodyPr wrap="square" lIns="91440" tIns="45720" rIns="91440" bIns="45720" anchor="t">
            <a:normAutofit/>
          </a:bodyPr>
          <a:lstStyle/>
          <a:p>
            <a:pPr marL="0" indent="0" algn="l">
              <a:spcBef>
                <a:spcPts val="0"/>
              </a:spcBef>
              <a:spcAft>
                <a:spcPts val="1400"/>
              </a:spcAft>
              <a:buNone/>
            </a:pPr>
            <a:r>
              <a:rPr lang="en-US" sz="2200" dirty="0">
                <a:latin typeface="Times New Roman"/>
                <a:cs typeface="Times New Roman"/>
              </a:rPr>
              <a:t>Production and logistics run on technical manuals: robot user manuals, forklift safety rules and maintenance procedures. These documents have hundreds of pages, so workers lose time searching by hand, and general AI chatbots can give confident but wrong answers.</a:t>
            </a:r>
          </a:p>
          <a:p>
            <a:pPr marL="0" indent="0" algn="l">
              <a:spcBef>
                <a:spcPts val="0"/>
              </a:spcBef>
              <a:spcAft>
                <a:spcPts val="300"/>
              </a:spcAft>
              <a:buNone/>
            </a:pPr>
            <a:r>
              <a:rPr lang="en-US" sz="2400" b="1" dirty="0">
                <a:latin typeface="Times New Roman"/>
                <a:cs typeface="Times New Roman"/>
              </a:rPr>
              <a:t>Key motivations:</a:t>
            </a:r>
          </a:p>
          <a:p>
            <a:pPr marL="285750" indent="-285750" algn="l">
              <a:spcBef>
                <a:spcPts val="0"/>
              </a:spcBef>
              <a:spcAft>
                <a:spcPts val="900"/>
              </a:spcAft>
              <a:buFont typeface="Arial"/>
              <a:buChar char="•"/>
            </a:pPr>
            <a:r>
              <a:rPr lang="en-US" sz="2200" dirty="0">
                <a:latin typeface="Times New Roman"/>
                <a:cs typeface="Times New Roman"/>
              </a:rPr>
              <a:t>Faster access to technical knowledge, so less machine downtime</a:t>
            </a:r>
          </a:p>
          <a:p>
            <a:pPr marL="285750" indent="-285750" algn="l">
              <a:spcBef>
                <a:spcPts val="0"/>
              </a:spcBef>
              <a:spcAft>
                <a:spcPts val="900"/>
              </a:spcAft>
              <a:buFont typeface="Arial"/>
              <a:buChar char="•"/>
            </a:pPr>
            <a:r>
              <a:rPr lang="en-US" sz="2200" dirty="0">
                <a:latin typeface="Times New Roman"/>
                <a:cs typeface="Times New Roman"/>
              </a:rPr>
              <a:t>Safer work: every answer is backed by the official manual page</a:t>
            </a:r>
          </a:p>
          <a:p>
            <a:pPr marL="285750" indent="-285750" algn="l">
              <a:spcBef>
                <a:spcPts val="0"/>
              </a:spcBef>
              <a:spcAft>
                <a:spcPts val="900"/>
              </a:spcAft>
              <a:buFont typeface="Arial"/>
              <a:buChar char="•"/>
            </a:pPr>
            <a:r>
              <a:rPr lang="en-US" sz="2200" dirty="0">
                <a:latin typeface="Times New Roman"/>
                <a:cs typeface="Times New Roman"/>
              </a:rPr>
              <a:t>Bring LLMs to the shop floor while documents stay on site</a:t>
            </a:r>
          </a:p>
          <a:p>
            <a:pPr marL="0" indent="0" algn="l">
              <a:spcBef>
                <a:spcPts val="0"/>
              </a:spcBef>
              <a:spcAft>
                <a:spcPts val="0"/>
              </a:spcAft>
              <a:buNone/>
            </a:pPr>
            <a:r>
              <a:rPr lang="en-US" sz="2000" i="1" dirty="0">
                <a:latin typeface="Times New Roman"/>
                <a:cs typeface="Times New Roman"/>
              </a:rPr>
              <a:t>Example questions: “What is the robot’s maximum payload?” · “How often must forklift brakes be checked?”</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2</a:t>
            </a:fld>
            <a:endParaRPr lang="en-US"/>
          </a:p>
        </p:txBody>
      </p:sp>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8822" y="313532"/>
            <a:ext cx="8300000" cy="1030286"/>
          </a:xfrm>
        </p:spPr>
        <p:txBody>
          <a:bodyPr>
            <a:normAutofit/>
          </a:bodyPr>
          <a:lstStyle/>
          <a:p>
            <a:r>
              <a:rPr lang="en-US" sz="3600" b="1" dirty="0">
                <a:latin typeface="Times New Roman"/>
                <a:cs typeface="Times New Roman"/>
              </a:rPr>
              <a:t>Project Scope:</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601884" y="1350000"/>
            <a:ext cx="10900000" cy="4850000"/>
          </a:xfrm>
          <a:prstGeom prst="rect">
            <a:avLst/>
          </a:prstGeom>
          <a:noFill/>
          <a:ln>
            <a:noFill/>
          </a:ln>
        </p:spPr>
        <p:txBody>
          <a:bodyPr wrap="square" lIns="91440" tIns="45720" rIns="91440" bIns="45720" anchor="t">
            <a:normAutofit/>
          </a:bodyPr>
          <a:lstStyle/>
          <a:p>
            <a:pPr marL="0" indent="0" algn="l">
              <a:spcBef>
                <a:spcPts val="0"/>
              </a:spcBef>
              <a:spcAft>
                <a:spcPts val="300"/>
              </a:spcAft>
              <a:buNone/>
            </a:pPr>
            <a:r>
              <a:rPr lang="en-US" sz="2400" b="1" dirty="0">
                <a:latin typeface="Times New Roman"/>
                <a:cs typeface="Times New Roman"/>
              </a:rPr>
              <a:t>Aim:</a:t>
            </a:r>
          </a:p>
          <a:p>
            <a:pPr marL="0" indent="0" algn="l">
              <a:spcBef>
                <a:spcPts val="0"/>
              </a:spcBef>
              <a:spcAft>
                <a:spcPts val="900"/>
              </a:spcAft>
              <a:buNone/>
            </a:pPr>
            <a:r>
              <a:rPr lang="en-US" sz="2000" dirty="0">
                <a:latin typeface="Times New Roman"/>
                <a:cs typeface="Times New Roman"/>
              </a:rPr>
              <a:t>Build and evaluate a chatbot that answers shop-floor questions only from verified production and logistics manuals, cites the source page, and says “I don’t know” when the answer is not there.</a:t>
            </a:r>
          </a:p>
          <a:p>
            <a:pPr marL="0" indent="0" algn="l">
              <a:spcBef>
                <a:spcPts val="0"/>
              </a:spcBef>
              <a:spcAft>
                <a:spcPts val="300"/>
              </a:spcAft>
              <a:buNone/>
            </a:pPr>
            <a:r>
              <a:rPr lang="en-US" sz="2400" b="1" dirty="0">
                <a:latin typeface="Times New Roman"/>
                <a:cs typeface="Times New Roman"/>
              </a:rPr>
              <a:t>Includes:</a:t>
            </a:r>
          </a:p>
          <a:p>
            <a:pPr marL="285750" indent="-285750" algn="l">
              <a:spcBef>
                <a:spcPts val="0"/>
              </a:spcBef>
              <a:spcAft>
                <a:spcPts val="200"/>
              </a:spcAft>
              <a:buFont typeface="Arial"/>
              <a:buChar char="•"/>
            </a:pPr>
            <a:r>
              <a:rPr lang="en-US" sz="2000" dirty="0">
                <a:latin typeface="Times New Roman"/>
                <a:cs typeface="Times New Roman"/>
              </a:rPr>
              <a:t>Text and table extraction from 3–4 public manuals (robot, forklift, conveyor)</a:t>
            </a:r>
          </a:p>
          <a:p>
            <a:pPr marL="285750" indent="-285750" algn="l">
              <a:spcBef>
                <a:spcPts val="0"/>
              </a:spcBef>
              <a:spcAft>
                <a:spcPts val="200"/>
              </a:spcAft>
              <a:buFont typeface="Arial"/>
              <a:buChar char="•"/>
            </a:pPr>
            <a:r>
              <a:rPr lang="en-US" sz="2000" dirty="0">
                <a:latin typeface="Times New Roman"/>
                <a:cs typeface="Times New Roman"/>
              </a:rPr>
              <a:t>Keyword (BM25), meaning-based and hybrid search</a:t>
            </a:r>
          </a:p>
          <a:p>
            <a:pPr marL="285750" indent="-285750" algn="l">
              <a:spcBef>
                <a:spcPts val="0"/>
              </a:spcBef>
              <a:spcAft>
                <a:spcPts val="200"/>
              </a:spcAft>
              <a:buFont typeface="Arial"/>
              <a:buChar char="•"/>
            </a:pPr>
            <a:r>
              <a:rPr lang="en-US" sz="2000" dirty="0">
                <a:latin typeface="Times New Roman"/>
                <a:cs typeface="Times New Roman"/>
              </a:rPr>
              <a:t>Local LLM answers with page citations, and refusal when unsure</a:t>
            </a:r>
          </a:p>
          <a:p>
            <a:pPr marL="285750" indent="-285750" algn="l">
              <a:spcBef>
                <a:spcPts val="0"/>
              </a:spcBef>
              <a:spcAft>
                <a:spcPts val="200"/>
              </a:spcAft>
              <a:buFont typeface="Arial"/>
              <a:buChar char="•"/>
            </a:pPr>
            <a:r>
              <a:rPr lang="en-US" sz="2000" dirty="0">
                <a:latin typeface="Times New Roman"/>
                <a:cs typeface="Times New Roman"/>
              </a:rPr>
              <a:t>60-question test set, evaluation and Streamlit chat demo</a:t>
            </a:r>
          </a:p>
          <a:p>
            <a:pPr marL="0" indent="0" algn="l">
              <a:spcBef>
                <a:spcPts val="0"/>
              </a:spcBef>
              <a:spcAft>
                <a:spcPts val="300"/>
              </a:spcAft>
              <a:buNone/>
            </a:pPr>
            <a:r>
              <a:rPr lang="en-US" sz="1000" dirty="0">
                <a:latin typeface="Times New Roman"/>
                <a:cs typeface="Times New Roman"/>
              </a:rPr>
              <a:t> </a:t>
            </a:r>
          </a:p>
          <a:p>
            <a:pPr marL="0" indent="0" algn="l">
              <a:spcBef>
                <a:spcPts val="0"/>
              </a:spcBef>
              <a:spcAft>
                <a:spcPts val="300"/>
              </a:spcAft>
              <a:buNone/>
            </a:pPr>
            <a:r>
              <a:rPr lang="en-US" sz="2400" b="1" dirty="0">
                <a:latin typeface="Times New Roman"/>
                <a:cs typeface="Times New Roman"/>
              </a:rPr>
              <a:t>Out of Scope (Current Phase):</a:t>
            </a:r>
          </a:p>
          <a:p>
            <a:pPr marL="285750" indent="-285750" algn="l">
              <a:spcBef>
                <a:spcPts val="0"/>
              </a:spcBef>
              <a:spcAft>
                <a:spcPts val="200"/>
              </a:spcAft>
              <a:buFont typeface="Arial"/>
              <a:buChar char="•"/>
            </a:pPr>
            <a:r>
              <a:rPr lang="en-US" sz="2000" dirty="0">
                <a:latin typeface="Times New Roman"/>
                <a:cs typeface="Times New Roman"/>
              </a:rPr>
              <a:t>Connection to real factory systems (MES/ERP) and confidential company documents</a:t>
            </a:r>
          </a:p>
          <a:p>
            <a:pPr marL="285750" indent="-285750" algn="l">
              <a:spcBef>
                <a:spcPts val="0"/>
              </a:spcBef>
              <a:spcAft>
                <a:spcPts val="200"/>
              </a:spcAft>
              <a:buFont typeface="Arial"/>
              <a:buChar char="•"/>
            </a:pPr>
            <a:r>
              <a:rPr lang="en-US" sz="2000" dirty="0">
                <a:latin typeface="Times New Roman"/>
                <a:cs typeface="Times New Roman"/>
              </a:rPr>
              <a:t>Images and drawings inside manuals; fine-tuning the language model</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3</a:t>
            </a:fld>
            <a:endParaRPr lang="en-US"/>
          </a:p>
        </p:txBody>
      </p:sp>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8822" y="313532"/>
            <a:ext cx="8300000" cy="1030286"/>
          </a:xfrm>
        </p:spPr>
        <p:txBody>
          <a:bodyPr>
            <a:normAutofit/>
          </a:bodyPr>
          <a:lstStyle/>
          <a:p>
            <a:r>
              <a:rPr lang="en-US" sz="3600" b="1" dirty="0">
                <a:latin typeface="Times New Roman"/>
                <a:cs typeface="Times New Roman"/>
              </a:rPr>
              <a:t>Objectives:</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601884" y="1700000"/>
            <a:ext cx="10900000" cy="4300000"/>
          </a:xfrm>
          <a:prstGeom prst="rect">
            <a:avLst/>
          </a:prstGeom>
          <a:noFill/>
          <a:ln>
            <a:noFill/>
          </a:ln>
        </p:spPr>
        <p:txBody>
          <a:bodyPr wrap="square" lIns="91440" tIns="45720" rIns="91440" bIns="45720" anchor="t">
            <a:normAutofit/>
          </a:bodyPr>
          <a:lstStyle/>
          <a:p>
            <a:pPr marL="285750" indent="-285750" algn="l">
              <a:spcBef>
                <a:spcPts val="0"/>
              </a:spcBef>
              <a:spcAft>
                <a:spcPts val="1400"/>
              </a:spcAft>
              <a:buFont typeface="Arial"/>
              <a:buChar char="•"/>
            </a:pPr>
            <a:r>
              <a:rPr lang="en-US" sz="2400" dirty="0">
                <a:latin typeface="Times New Roman"/>
                <a:cs typeface="Times New Roman"/>
              </a:rPr>
              <a:t>Build a reproducible RAG pipeline over production and logistics manuals.</a:t>
            </a:r>
          </a:p>
          <a:p>
            <a:pPr marL="285750" indent="-285750" algn="l">
              <a:spcBef>
                <a:spcPts val="0"/>
              </a:spcBef>
              <a:spcAft>
                <a:spcPts val="1400"/>
              </a:spcAft>
              <a:buFont typeface="Arial"/>
              <a:buChar char="•"/>
            </a:pPr>
            <a:r>
              <a:rPr lang="en-US" sz="2400" dirty="0">
                <a:latin typeface="Times New Roman"/>
                <a:cs typeface="Times New Roman"/>
              </a:rPr>
              <a:t>Compare four approaches: plain LLM, keyword RAG, meaning-based RAG and hybrid RAG.</a:t>
            </a:r>
          </a:p>
          <a:p>
            <a:pPr marL="285750" indent="-285750" algn="l">
              <a:spcBef>
                <a:spcPts val="0"/>
              </a:spcBef>
              <a:spcAft>
                <a:spcPts val="1400"/>
              </a:spcAft>
              <a:buFont typeface="Arial"/>
              <a:buChar char="•"/>
            </a:pPr>
            <a:r>
              <a:rPr lang="en-US" sz="2400" dirty="0">
                <a:latin typeface="Times New Roman"/>
                <a:cs typeface="Times New Roman"/>
              </a:rPr>
              <a:t>Evaluate hit rate, answer accuracy, refusal rate and response time on 60 questions.</a:t>
            </a:r>
          </a:p>
          <a:p>
            <a:pPr marL="285750" indent="-285750" algn="l">
              <a:spcBef>
                <a:spcPts val="0"/>
              </a:spcBef>
              <a:spcAft>
                <a:spcPts val="1400"/>
              </a:spcAft>
              <a:buFont typeface="Arial"/>
              <a:buChar char="•"/>
            </a:pPr>
            <a:r>
              <a:rPr lang="en-US" sz="2400" dirty="0">
                <a:latin typeface="Times New Roman"/>
                <a:cs typeface="Times New Roman"/>
              </a:rPr>
              <a:t>Deliver a Streamlit chat demo that shows the source page for every answer.</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4</a:t>
            </a:fld>
            <a:endParaRPr lang="en-US"/>
          </a:p>
        </p:txBody>
      </p:sp>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8822" y="313532"/>
            <a:ext cx="8300000" cy="1030286"/>
          </a:xfrm>
        </p:spPr>
        <p:txBody>
          <a:bodyPr>
            <a:normAutofit/>
          </a:bodyPr>
          <a:lstStyle/>
          <a:p>
            <a:r>
              <a:rPr lang="en-US" sz="3600" b="1" dirty="0">
                <a:latin typeface="Times New Roman"/>
                <a:cs typeface="Times New Roman"/>
              </a:rPr>
              <a:t>Why not just use Llama or ChatGPT?</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graphicFrame>
        <p:nvGraphicFramePr>
          <p:cNvPr id="11" name="Table 11"/>
          <p:cNvGraphicFramePr>
            <a:graphicFrameLocks noGrp="1"/>
          </p:cNvGraphicFramePr>
          <p:nvPr/>
        </p:nvGraphicFramePr>
        <p:xfrm>
          <a:off x="601884" y="1500000"/>
          <a:ext cx="10899998" cy="3440080"/>
        </p:xfrm>
        <a:graphic>
          <a:graphicData uri="http://schemas.openxmlformats.org/drawingml/2006/table">
            <a:tbl>
              <a:tblPr firstRow="1" bandRow="1">
                <a:tableStyleId>{073A0DAA-6AF3-43AB-8588-CEC1D06C72B9}</a:tableStyleId>
              </a:tblPr>
              <a:tblGrid>
                <a:gridCol w="2664444">
                  <a:extLst>
                    <a:ext uri="{9D8B030D-6E8A-4147-A177-3AD203B41FA5}">
                      <a16:colId xmlns:a16="http://schemas.microsoft.com/office/drawing/2014/main" val="20000"/>
                    </a:ext>
                  </a:extLst>
                </a:gridCol>
                <a:gridCol w="4117777">
                  <a:extLst>
                    <a:ext uri="{9D8B030D-6E8A-4147-A177-3AD203B41FA5}">
                      <a16:colId xmlns:a16="http://schemas.microsoft.com/office/drawing/2014/main" val="20001"/>
                    </a:ext>
                  </a:extLst>
                </a:gridCol>
                <a:gridCol w="4117777">
                  <a:extLst>
                    <a:ext uri="{9D8B030D-6E8A-4147-A177-3AD203B41FA5}">
                      <a16:colId xmlns:a16="http://schemas.microsoft.com/office/drawing/2014/main" val="20002"/>
                    </a:ext>
                  </a:extLst>
                </a:gridCol>
              </a:tblGrid>
              <a:tr h="560000">
                <a:tc>
                  <a:txBody>
                    <a:bodyPr/>
                    <a:lstStyle/>
                    <a:p>
                      <a:r>
                        <a:rPr lang="en-US" sz="2000" b="1" dirty="0">
                          <a:solidFill>
                            <a:schemeClr val="bg1"/>
                          </a:solidFill>
                          <a:latin typeface="Times New Roman"/>
                          <a:cs typeface="Times New Roman"/>
                        </a:rPr>
                        <a:t>Aspect</a:t>
                      </a:r>
                    </a:p>
                  </a:txBody>
                  <a:tcPr anchor="ctr">
                    <a:solidFill>
                      <a:schemeClr val="tx1"/>
                    </a:solidFill>
                  </a:tcPr>
                </a:tc>
                <a:tc>
                  <a:txBody>
                    <a:bodyPr/>
                    <a:lstStyle/>
                    <a:p>
                      <a:r>
                        <a:rPr lang="en-US" sz="2000" b="1" dirty="0">
                          <a:solidFill>
                            <a:schemeClr val="bg1"/>
                          </a:solidFill>
                          <a:latin typeface="Times New Roman"/>
                          <a:cs typeface="Times New Roman"/>
                        </a:rPr>
                        <a:t>Plain LLM</a:t>
                      </a:r>
                    </a:p>
                  </a:txBody>
                  <a:tcPr anchor="ctr">
                    <a:solidFill>
                      <a:schemeClr val="tx1"/>
                    </a:solidFill>
                  </a:tcPr>
                </a:tc>
                <a:tc>
                  <a:txBody>
                    <a:bodyPr/>
                    <a:lstStyle/>
                    <a:p>
                      <a:r>
                        <a:rPr lang="en-US" sz="2000" b="1" dirty="0">
                          <a:solidFill>
                            <a:schemeClr val="bg1"/>
                          </a:solidFill>
                          <a:latin typeface="Times New Roman"/>
                          <a:cs typeface="Times New Roman"/>
                        </a:rPr>
                        <a:t>FactoryDocs Assistant</a:t>
                      </a:r>
                    </a:p>
                  </a:txBody>
                  <a:tcPr anchor="ctr">
                    <a:solidFill>
                      <a:schemeClr val="tx1"/>
                    </a:solidFill>
                  </a:tcPr>
                </a:tc>
                <a:extLst>
                  <a:ext uri="{0D108BD9-81ED-4DB2-BD59-A6C34878D82A}">
                    <a16:rowId xmlns:a16="http://schemas.microsoft.com/office/drawing/2014/main" val="10000"/>
                  </a:ext>
                </a:extLst>
              </a:tr>
              <a:tr h="560000">
                <a:tc>
                  <a:txBody>
                    <a:bodyPr/>
                    <a:lstStyle/>
                    <a:p>
                      <a:r>
                        <a:rPr lang="en-US" sz="1800" dirty="0">
                          <a:latin typeface="Times New Roman"/>
                          <a:cs typeface="Times New Roman"/>
                        </a:rPr>
                        <a:t>Source of answer</a:t>
                      </a:r>
                    </a:p>
                  </a:txBody>
                  <a:tcPr anchor="ctr"/>
                </a:tc>
                <a:tc>
                  <a:txBody>
                    <a:bodyPr/>
                    <a:lstStyle/>
                    <a:p>
                      <a:r>
                        <a:rPr lang="en-US" sz="1800" dirty="0">
                          <a:latin typeface="Times New Roman"/>
                          <a:cs typeface="Times New Roman"/>
                        </a:rPr>
                        <a:t>Memory from training data</a:t>
                      </a:r>
                    </a:p>
                  </a:txBody>
                  <a:tcPr anchor="ctr"/>
                </a:tc>
                <a:tc>
                  <a:txBody>
                    <a:bodyPr/>
                    <a:lstStyle/>
                    <a:p>
                      <a:r>
                        <a:rPr lang="en-US" sz="1800" dirty="0">
                          <a:latin typeface="Times New Roman"/>
                          <a:cs typeface="Times New Roman"/>
                        </a:rPr>
                        <a:t>Only the factory’s own manuals</a:t>
                      </a:r>
                    </a:p>
                  </a:txBody>
                  <a:tcPr anchor="ctr"/>
                </a:tc>
                <a:extLst>
                  <a:ext uri="{0D108BD9-81ED-4DB2-BD59-A6C34878D82A}">
                    <a16:rowId xmlns:a16="http://schemas.microsoft.com/office/drawing/2014/main" val="10001"/>
                  </a:ext>
                </a:extLst>
              </a:tr>
              <a:tr h="560000">
                <a:tc>
                  <a:txBody>
                    <a:bodyPr/>
                    <a:lstStyle/>
                    <a:p>
                      <a:r>
                        <a:rPr lang="en-US" sz="1800" dirty="0">
                          <a:latin typeface="Times New Roman"/>
                          <a:cs typeface="Times New Roman"/>
                        </a:rPr>
                        <a:t>Citation</a:t>
                      </a:r>
                    </a:p>
                  </a:txBody>
                  <a:tcPr anchor="ctr"/>
                </a:tc>
                <a:tc>
                  <a:txBody>
                    <a:bodyPr/>
                    <a:lstStyle/>
                    <a:p>
                      <a:r>
                        <a:rPr lang="en-US" sz="1800" dirty="0">
                          <a:latin typeface="Times New Roman"/>
                          <a:cs typeface="Times New Roman"/>
                        </a:rPr>
                        <a:t>None</a:t>
                      </a:r>
                    </a:p>
                  </a:txBody>
                  <a:tcPr anchor="ctr"/>
                </a:tc>
                <a:tc>
                  <a:txBody>
                    <a:bodyPr/>
                    <a:lstStyle/>
                    <a:p>
                      <a:r>
                        <a:rPr lang="en-US" sz="1800" dirty="0">
                          <a:latin typeface="Times New Roman"/>
                          <a:cs typeface="Times New Roman"/>
                        </a:rPr>
                        <a:t>Manual name + page number</a:t>
                      </a:r>
                    </a:p>
                  </a:txBody>
                  <a:tcPr anchor="ctr"/>
                </a:tc>
                <a:extLst>
                  <a:ext uri="{0D108BD9-81ED-4DB2-BD59-A6C34878D82A}">
                    <a16:rowId xmlns:a16="http://schemas.microsoft.com/office/drawing/2014/main" val="10002"/>
                  </a:ext>
                </a:extLst>
              </a:tr>
              <a:tr h="560000">
                <a:tc>
                  <a:txBody>
                    <a:bodyPr/>
                    <a:lstStyle/>
                    <a:p>
                      <a:r>
                        <a:rPr lang="en-US" sz="1800" dirty="0">
                          <a:latin typeface="Times New Roman"/>
                          <a:cs typeface="Times New Roman"/>
                        </a:rPr>
                        <a:t>Question not in manuals</a:t>
                      </a:r>
                    </a:p>
                  </a:txBody>
                  <a:tcPr anchor="ctr"/>
                </a:tc>
                <a:tc>
                  <a:txBody>
                    <a:bodyPr/>
                    <a:lstStyle/>
                    <a:p>
                      <a:r>
                        <a:rPr lang="en-US" sz="1800" dirty="0">
                          <a:latin typeface="Times New Roman"/>
                          <a:cs typeface="Times New Roman"/>
                        </a:rPr>
                        <a:t>Often guesses</a:t>
                      </a:r>
                    </a:p>
                  </a:txBody>
                  <a:tcPr anchor="ctr"/>
                </a:tc>
                <a:tc>
                  <a:txBody>
                    <a:bodyPr/>
                    <a:lstStyle/>
                    <a:p>
                      <a:r>
                        <a:rPr lang="en-US" sz="1800" dirty="0">
                          <a:latin typeface="Times New Roman"/>
                          <a:cs typeface="Times New Roman"/>
                        </a:rPr>
                        <a:t>Says “I don’t know”</a:t>
                      </a:r>
                    </a:p>
                  </a:txBody>
                  <a:tcPr anchor="ctr"/>
                </a:tc>
                <a:extLst>
                  <a:ext uri="{0D108BD9-81ED-4DB2-BD59-A6C34878D82A}">
                    <a16:rowId xmlns:a16="http://schemas.microsoft.com/office/drawing/2014/main" val="10003"/>
                  </a:ext>
                </a:extLst>
              </a:tr>
              <a:tr h="560000">
                <a:tc>
                  <a:txBody>
                    <a:bodyPr/>
                    <a:lstStyle/>
                    <a:p>
                      <a:r>
                        <a:rPr lang="en-US" sz="1800" dirty="0">
                          <a:latin typeface="Times New Roman"/>
                          <a:cs typeface="Times New Roman"/>
                        </a:rPr>
                        <a:t>Data privacy</a:t>
                      </a:r>
                    </a:p>
                  </a:txBody>
                  <a:tcPr anchor="ctr"/>
                </a:tc>
                <a:tc>
                  <a:txBody>
                    <a:bodyPr/>
                    <a:lstStyle/>
                    <a:p>
                      <a:r>
                        <a:rPr lang="en-US" sz="1800" dirty="0">
                          <a:latin typeface="Times New Roman"/>
                          <a:cs typeface="Times New Roman"/>
                        </a:rPr>
                        <a:t>Large models run in the cloud</a:t>
                      </a:r>
                    </a:p>
                  </a:txBody>
                  <a:tcPr anchor="ctr"/>
                </a:tc>
                <a:tc>
                  <a:txBody>
                    <a:bodyPr/>
                    <a:lstStyle/>
                    <a:p>
                      <a:r>
                        <a:rPr lang="en-US" sz="1800" dirty="0">
                          <a:latin typeface="Times New Roman"/>
                          <a:cs typeface="Times New Roman"/>
                        </a:rPr>
                        <a:t>Runs locally (Ollama), documents stay on site</a:t>
                      </a:r>
                    </a:p>
                  </a:txBody>
                  <a:tcPr anchor="ctr"/>
                </a:tc>
                <a:extLst>
                  <a:ext uri="{0D108BD9-81ED-4DB2-BD59-A6C34878D82A}">
                    <a16:rowId xmlns:a16="http://schemas.microsoft.com/office/drawing/2014/main" val="10004"/>
                  </a:ext>
                </a:extLst>
              </a:tr>
              <a:tr h="560000">
                <a:tc>
                  <a:txBody>
                    <a:bodyPr/>
                    <a:lstStyle/>
                    <a:p>
                      <a:r>
                        <a:rPr lang="en-US" sz="1800" dirty="0">
                          <a:latin typeface="Times New Roman"/>
                          <a:cs typeface="Times New Roman"/>
                        </a:rPr>
                        <a:t>Can the worker verify it?</a:t>
                      </a:r>
                    </a:p>
                  </a:txBody>
                  <a:tcPr anchor="ctr"/>
                </a:tc>
                <a:tc>
                  <a:txBody>
                    <a:bodyPr/>
                    <a:lstStyle/>
                    <a:p>
                      <a:r>
                        <a:rPr lang="en-US" sz="1800" dirty="0">
                          <a:latin typeface="Times New Roman"/>
                          <a:cs typeface="Times New Roman"/>
                        </a:rPr>
                        <a:t>No</a:t>
                      </a:r>
                    </a:p>
                  </a:txBody>
                  <a:tcPr anchor="ctr"/>
                </a:tc>
                <a:tc>
                  <a:txBody>
                    <a:bodyPr/>
                    <a:lstStyle/>
                    <a:p>
                      <a:r>
                        <a:rPr lang="en-US" sz="1800" dirty="0">
                          <a:latin typeface="Times New Roman"/>
                          <a:cs typeface="Times New Roman"/>
                        </a:rPr>
                        <a:t>Yes, by opening the cited page</a:t>
                      </a:r>
                    </a:p>
                  </a:txBody>
                  <a:tcPr anchor="ctr"/>
                </a:tc>
                <a:extLst>
                  <a:ext uri="{0D108BD9-81ED-4DB2-BD59-A6C34878D82A}">
                    <a16:rowId xmlns:a16="http://schemas.microsoft.com/office/drawing/2014/main" val="10005"/>
                  </a:ext>
                </a:extLst>
              </a:tr>
            </a:tbl>
          </a:graphicData>
        </a:graphic>
      </p:graphicFrame>
      <p:sp>
        <p:nvSpPr>
          <p:cNvPr id="12" name="TextBox 12"/>
          <p:cNvSpPr txBox="1"/>
          <p:nvPr/>
        </p:nvSpPr>
        <p:spPr>
          <a:xfrm>
            <a:off x="601884" y="5050000"/>
            <a:ext cx="10900000" cy="900000"/>
          </a:xfrm>
          <a:prstGeom prst="rect">
            <a:avLst/>
          </a:prstGeom>
          <a:noFill/>
          <a:ln>
            <a:noFill/>
          </a:ln>
        </p:spPr>
        <p:txBody>
          <a:bodyPr wrap="square" lIns="91440" tIns="45720" rIns="91440" bIns="45720" anchor="t">
            <a:normAutofit/>
          </a:bodyPr>
          <a:lstStyle/>
          <a:p>
            <a:pPr marL="0" indent="0" algn="l">
              <a:spcBef>
                <a:spcPts val="0"/>
              </a:spcBef>
              <a:spcAft>
                <a:spcPts val="0"/>
              </a:spcAft>
              <a:buNone/>
            </a:pPr>
            <a:r>
              <a:rPr lang="en-US" sz="2000" b="1" dirty="0">
                <a:latin typeface="Times New Roman"/>
                <a:cs typeface="Times New Roman"/>
              </a:rPr>
              <a:t>We don’t build a new LLM. We make an existing one reliable for the shop floor, and prove it with numbers: the plain LLM is one of our baselines.</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5</a:t>
            </a:fld>
            <a:endParaRPr lang="en-US"/>
          </a:p>
        </p:txBody>
      </p:sp>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6677" y="0"/>
            <a:ext cx="8000000" cy="1107582"/>
          </a:xfrm>
        </p:spPr>
        <p:txBody>
          <a:bodyPr>
            <a:normAutofit/>
          </a:bodyPr>
          <a:lstStyle/>
          <a:p>
            <a:r>
              <a:rPr lang="en-US" sz="3600" b="1" dirty="0">
                <a:latin typeface="Times New Roman"/>
                <a:cs typeface="Times New Roman"/>
              </a:rPr>
              <a:t>Project flow chart:</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6</a:t>
            </a:fld>
            <a:endParaRPr lang="en-US"/>
          </a:p>
        </p:txBody>
      </p:sp>
      <p:pic>
        <p:nvPicPr>
          <p:cNvPr id="9" name="Picture 8">
            <a:extLst>
              <a:ext uri="{FF2B5EF4-FFF2-40B4-BE49-F238E27FC236}">
                <a16:creationId xmlns:a16="http://schemas.microsoft.com/office/drawing/2014/main" id="{B0137933-8EFA-CD8C-BFEF-AB26A2BD8A7C}"/>
              </a:ext>
            </a:extLst>
          </p:cNvPr>
          <p:cNvPicPr>
            <a:picLocks noChangeAspect="1"/>
          </p:cNvPicPr>
          <p:nvPr/>
        </p:nvPicPr>
        <p:blipFill>
          <a:blip r:embed="rId2"/>
          <a:stretch>
            <a:fillRect/>
          </a:stretch>
        </p:blipFill>
        <p:spPr>
          <a:xfrm>
            <a:off x="3745149" y="914400"/>
            <a:ext cx="5034676" cy="5257631"/>
          </a:xfrm>
          <a:prstGeom prst="rect">
            <a:avLst/>
          </a:prstGeom>
        </p:spPr>
      </p:pic>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987" y="200000"/>
            <a:ext cx="8300000" cy="1100000"/>
          </a:xfrm>
        </p:spPr>
        <p:txBody>
          <a:bodyPr>
            <a:normAutofit/>
          </a:bodyPr>
          <a:lstStyle/>
          <a:p>
            <a:r>
              <a:rPr lang="en-US" sz="3600" b="1" dirty="0">
                <a:latin typeface="Times New Roman"/>
                <a:cs typeface="Times New Roman"/>
              </a:rPr>
              <a:t>Working Methodology:</a:t>
            </a:r>
          </a:p>
        </p:txBody>
      </p:sp>
      <p:pic>
        <p:nvPicPr>
          <p:cNvPr id="3" name="THD Logo" descr="Deggendorf Institute of Technology logo"/>
          <p:cNvPicPr>
            <a:picLocks noChangeAspect="1"/>
          </p:cNvPicPr>
          <p:nvPr/>
        </p:nvPicPr>
        <p:blipFill rotWithShape="1">
          <a:blip r:embed="rId2"/>
          <a:srcRect t="25993" b="23415"/>
          <a:stretch/>
        </p:blipFill>
        <p:spPr bwMode="auto">
          <a:xfrm>
            <a:off x="9009888" y="18255"/>
            <a:ext cx="3182112" cy="1248621"/>
          </a:xfrm>
          <a:prstGeom prst="rect">
            <a:avLst/>
          </a:prstGeom>
          <a:noFill/>
        </p:spPr>
      </p:pic>
      <p:sp>
        <p:nvSpPr>
          <p:cNvPr id="11" name="TextBox 11"/>
          <p:cNvSpPr txBox="1"/>
          <p:nvPr/>
        </p:nvSpPr>
        <p:spPr>
          <a:xfrm>
            <a:off x="711200" y="1300000"/>
            <a:ext cx="10800000" cy="4900000"/>
          </a:xfrm>
          <a:prstGeom prst="rect">
            <a:avLst/>
          </a:prstGeom>
          <a:noFill/>
          <a:ln>
            <a:noFill/>
          </a:ln>
        </p:spPr>
        <p:txBody>
          <a:bodyPr wrap="square" lIns="91440" tIns="45720" rIns="91440" bIns="45720" anchor="t">
            <a:normAutofit/>
          </a:bodyPr>
          <a:lstStyle/>
          <a:p>
            <a:pPr marL="0" indent="0" algn="l">
              <a:spcBef>
                <a:spcPts val="0"/>
              </a:spcBef>
              <a:spcAft>
                <a:spcPts val="100"/>
              </a:spcAft>
              <a:buNone/>
            </a:pPr>
            <a:r>
              <a:rPr lang="en-US" sz="2000" b="1" dirty="0">
                <a:latin typeface="Times New Roman"/>
                <a:cs typeface="Times New Roman"/>
              </a:rPr>
              <a:t>Step 1: Data Preparation</a:t>
            </a:r>
          </a:p>
          <a:p>
            <a:pPr marL="285750" indent="-285750" algn="l">
              <a:spcBef>
                <a:spcPts val="0"/>
              </a:spcBef>
              <a:spcAft>
                <a:spcPts val="150"/>
              </a:spcAft>
              <a:buFont typeface="Arial"/>
              <a:buChar char="•"/>
            </a:pPr>
            <a:r>
              <a:rPr lang="en-US" sz="1800" dirty="0">
                <a:latin typeface="Times New Roman"/>
                <a:cs typeface="Times New Roman"/>
              </a:rPr>
              <a:t>Collect 3–4 public manuals (UR5e robot, OSHA forklift guidance, conveyor/CNC).</a:t>
            </a:r>
          </a:p>
          <a:p>
            <a:pPr marL="285750" indent="-285750" algn="l">
              <a:spcBef>
                <a:spcPts val="0"/>
              </a:spcBef>
              <a:spcAft>
                <a:spcPts val="150"/>
              </a:spcAft>
              <a:buFont typeface="Arial"/>
              <a:buChar char="•"/>
            </a:pPr>
            <a:r>
              <a:rPr lang="en-US" sz="1800" dirty="0">
                <a:latin typeface="Times New Roman"/>
                <a:cs typeface="Times New Roman"/>
              </a:rPr>
              <a:t>Extract text and tables with page numbers; split into small chunks.</a:t>
            </a:r>
          </a:p>
          <a:p>
            <a:pPr marL="0" indent="0" algn="l">
              <a:spcBef>
                <a:spcPts val="0"/>
              </a:spcBef>
              <a:spcAft>
                <a:spcPts val="0"/>
              </a:spcAft>
              <a:buNone/>
            </a:pPr>
            <a:r>
              <a:rPr lang="en-US" sz="600" dirty="0">
                <a:latin typeface="Times New Roman"/>
                <a:cs typeface="Times New Roman"/>
              </a:rPr>
              <a:t> </a:t>
            </a:r>
          </a:p>
          <a:p>
            <a:pPr marL="0" indent="0" algn="l">
              <a:spcBef>
                <a:spcPts val="0"/>
              </a:spcBef>
              <a:spcAft>
                <a:spcPts val="100"/>
              </a:spcAft>
              <a:buNone/>
            </a:pPr>
            <a:r>
              <a:rPr lang="en-US" sz="2000" b="1" dirty="0">
                <a:latin typeface="Times New Roman"/>
                <a:cs typeface="Times New Roman"/>
              </a:rPr>
              <a:t>Step 2: Retrieval</a:t>
            </a:r>
          </a:p>
          <a:p>
            <a:pPr marL="285750" indent="-285750" algn="l">
              <a:spcBef>
                <a:spcPts val="0"/>
              </a:spcBef>
              <a:spcAft>
                <a:spcPts val="150"/>
              </a:spcAft>
              <a:buFont typeface="Arial"/>
              <a:buChar char="•"/>
            </a:pPr>
            <a:r>
              <a:rPr lang="en-US" sz="1800" dirty="0">
                <a:latin typeface="Times New Roman"/>
                <a:cs typeface="Times New Roman"/>
              </a:rPr>
              <a:t>Baseline: keyword search (BM25). Then meaning-based search (sentence-transformers + FAISS).</a:t>
            </a:r>
          </a:p>
          <a:p>
            <a:pPr marL="285750" indent="-285750" algn="l">
              <a:spcBef>
                <a:spcPts val="0"/>
              </a:spcBef>
              <a:spcAft>
                <a:spcPts val="150"/>
              </a:spcAft>
              <a:buFont typeface="Arial"/>
              <a:buChar char="•"/>
            </a:pPr>
            <a:r>
              <a:rPr lang="en-US" sz="1800" dirty="0">
                <a:latin typeface="Times New Roman"/>
                <a:cs typeface="Times New Roman"/>
              </a:rPr>
              <a:t>Hybrid search combines both, for error codes and part numbers.</a:t>
            </a:r>
          </a:p>
          <a:p>
            <a:pPr marL="0" indent="0" algn="l">
              <a:spcBef>
                <a:spcPts val="0"/>
              </a:spcBef>
              <a:spcAft>
                <a:spcPts val="0"/>
              </a:spcAft>
              <a:buNone/>
            </a:pPr>
            <a:r>
              <a:rPr lang="en-US" sz="600" dirty="0">
                <a:latin typeface="Times New Roman"/>
                <a:cs typeface="Times New Roman"/>
              </a:rPr>
              <a:t> </a:t>
            </a:r>
          </a:p>
          <a:p>
            <a:pPr marL="0" indent="0" algn="l">
              <a:spcBef>
                <a:spcPts val="0"/>
              </a:spcBef>
              <a:spcAft>
                <a:spcPts val="100"/>
              </a:spcAft>
              <a:buNone/>
            </a:pPr>
            <a:r>
              <a:rPr lang="en-US" sz="2000" b="1" dirty="0">
                <a:latin typeface="Times New Roman"/>
                <a:cs typeface="Times New Roman"/>
              </a:rPr>
              <a:t>Step 3: Answer Generation</a:t>
            </a:r>
          </a:p>
          <a:p>
            <a:pPr marL="285750" indent="-285750" algn="l">
              <a:spcBef>
                <a:spcPts val="0"/>
              </a:spcBef>
              <a:spcAft>
                <a:spcPts val="150"/>
              </a:spcAft>
              <a:buFont typeface="Arial"/>
              <a:buChar char="•"/>
            </a:pPr>
            <a:r>
              <a:rPr lang="en-US" sz="1800" dirty="0">
                <a:latin typeface="Times New Roman"/>
                <a:cs typeface="Times New Roman"/>
              </a:rPr>
              <a:t>Local LLM (Ollama) answers only from retrieved chunks and cites the page.</a:t>
            </a:r>
          </a:p>
          <a:p>
            <a:pPr marL="285750" indent="-285750" algn="l">
              <a:spcBef>
                <a:spcPts val="0"/>
              </a:spcBef>
              <a:spcAft>
                <a:spcPts val="150"/>
              </a:spcAft>
              <a:buFont typeface="Arial"/>
              <a:buChar char="•"/>
            </a:pPr>
            <a:r>
              <a:rPr lang="en-US" sz="1800" dirty="0">
                <a:latin typeface="Times New Roman"/>
                <a:cs typeface="Times New Roman"/>
              </a:rPr>
              <a:t>If the answer is not in the chunks, it replies “I don’t know”.</a:t>
            </a:r>
          </a:p>
          <a:p>
            <a:pPr marL="0" indent="0" algn="l">
              <a:spcBef>
                <a:spcPts val="0"/>
              </a:spcBef>
              <a:spcAft>
                <a:spcPts val="0"/>
              </a:spcAft>
              <a:buNone/>
            </a:pPr>
            <a:r>
              <a:rPr lang="en-US" sz="600" dirty="0">
                <a:latin typeface="Times New Roman"/>
                <a:cs typeface="Times New Roman"/>
              </a:rPr>
              <a:t> </a:t>
            </a:r>
          </a:p>
          <a:p>
            <a:pPr marL="0" indent="0" algn="l">
              <a:spcBef>
                <a:spcPts val="0"/>
              </a:spcBef>
              <a:spcAft>
                <a:spcPts val="100"/>
              </a:spcAft>
              <a:buNone/>
            </a:pPr>
            <a:r>
              <a:rPr lang="en-US" sz="2000" b="1" dirty="0">
                <a:latin typeface="Times New Roman"/>
                <a:cs typeface="Times New Roman"/>
              </a:rPr>
              <a:t>Step 4: Evaluation and Comparison</a:t>
            </a:r>
          </a:p>
          <a:p>
            <a:pPr marL="285750" indent="-285750" algn="l">
              <a:spcBef>
                <a:spcPts val="0"/>
              </a:spcBef>
              <a:spcAft>
                <a:spcPts val="150"/>
              </a:spcAft>
              <a:buFont typeface="Arial"/>
              <a:buChar char="•"/>
            </a:pPr>
            <a:r>
              <a:rPr lang="en-US" sz="1800" dirty="0">
                <a:latin typeface="Times New Roman"/>
                <a:cs typeface="Times New Roman"/>
              </a:rPr>
              <a:t>60 team-written questions in 5 types: fact, table value, procedure, safety rule, unanswerable.</a:t>
            </a:r>
          </a:p>
          <a:p>
            <a:pPr marL="285750" indent="-285750" algn="l">
              <a:spcBef>
                <a:spcPts val="0"/>
              </a:spcBef>
              <a:spcAft>
                <a:spcPts val="150"/>
              </a:spcAft>
              <a:buFont typeface="Arial"/>
              <a:buChar char="•"/>
            </a:pPr>
            <a:r>
              <a:rPr lang="en-US" sz="1800" dirty="0">
                <a:latin typeface="Times New Roman"/>
                <a:cs typeface="Times New Roman"/>
              </a:rPr>
              <a:t>Scored by two members with a rubric, checked with RAGAS; all four approaches compared.</a:t>
            </a:r>
          </a:p>
          <a:p>
            <a:pPr marL="0" indent="0" algn="l">
              <a:spcBef>
                <a:spcPts val="0"/>
              </a:spcBef>
              <a:spcAft>
                <a:spcPts val="0"/>
              </a:spcAft>
              <a:buNone/>
            </a:pPr>
            <a:r>
              <a:rPr lang="en-US" sz="600" dirty="0">
                <a:latin typeface="Times New Roman"/>
                <a:cs typeface="Times New Roman"/>
              </a:rPr>
              <a:t> </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7</a:t>
            </a:fld>
            <a:endParaRPr lang="en-US"/>
          </a:p>
        </p:txBody>
      </p:sp>
    </p:spTree>
  </p:cSld>
  <p:clrMapOvr>
    <a:masterClrMapping/>
  </p:clrMapOvr>
  <p:transition spd="slow">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4766" y="313532"/>
            <a:ext cx="8300000" cy="1030286"/>
          </a:xfrm>
        </p:spPr>
        <p:txBody>
          <a:bodyPr>
            <a:normAutofit/>
          </a:bodyPr>
          <a:lstStyle/>
          <a:p>
            <a:r>
              <a:rPr lang="en-US" sz="3600" b="1" dirty="0">
                <a:latin typeface="Times New Roman"/>
                <a:cs typeface="Times New Roman"/>
              </a:rPr>
              <a:t>Technology Stack:</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graphicFrame>
        <p:nvGraphicFramePr>
          <p:cNvPr id="11" name="Table 11"/>
          <p:cNvGraphicFramePr>
            <a:graphicFrameLocks noGrp="1"/>
          </p:cNvGraphicFramePr>
          <p:nvPr/>
        </p:nvGraphicFramePr>
        <p:xfrm>
          <a:off x="636610" y="1450000"/>
          <a:ext cx="10399998" cy="4480000"/>
        </p:xfrm>
        <a:graphic>
          <a:graphicData uri="http://schemas.openxmlformats.org/drawingml/2006/table">
            <a:tbl>
              <a:tblPr firstRow="1" bandRow="1">
                <a:tableStyleId>{073A0DAA-6AF3-43AB-8588-CEC1D06C72B9}</a:tableStyleId>
              </a:tblPr>
              <a:tblGrid>
                <a:gridCol w="2759183">
                  <a:extLst>
                    <a:ext uri="{9D8B030D-6E8A-4147-A177-3AD203B41FA5}">
                      <a16:colId xmlns:a16="http://schemas.microsoft.com/office/drawing/2014/main" val="20000"/>
                    </a:ext>
                  </a:extLst>
                </a:gridCol>
                <a:gridCol w="3395918">
                  <a:extLst>
                    <a:ext uri="{9D8B030D-6E8A-4147-A177-3AD203B41FA5}">
                      <a16:colId xmlns:a16="http://schemas.microsoft.com/office/drawing/2014/main" val="20001"/>
                    </a:ext>
                  </a:extLst>
                </a:gridCol>
                <a:gridCol w="4244897">
                  <a:extLst>
                    <a:ext uri="{9D8B030D-6E8A-4147-A177-3AD203B41FA5}">
                      <a16:colId xmlns:a16="http://schemas.microsoft.com/office/drawing/2014/main" val="20002"/>
                    </a:ext>
                  </a:extLst>
                </a:gridCol>
              </a:tblGrid>
              <a:tr h="560000">
                <a:tc>
                  <a:txBody>
                    <a:bodyPr/>
                    <a:lstStyle/>
                    <a:p>
                      <a:r>
                        <a:rPr lang="en-US" sz="2000" b="1" dirty="0">
                          <a:solidFill>
                            <a:schemeClr val="bg1"/>
                          </a:solidFill>
                          <a:latin typeface="Times New Roman"/>
                          <a:cs typeface="Times New Roman"/>
                        </a:rPr>
                        <a:t>Process</a:t>
                      </a:r>
                    </a:p>
                  </a:txBody>
                  <a:tcPr anchor="ctr">
                    <a:solidFill>
                      <a:schemeClr val="tx1"/>
                    </a:solidFill>
                  </a:tcPr>
                </a:tc>
                <a:tc>
                  <a:txBody>
                    <a:bodyPr/>
                    <a:lstStyle/>
                    <a:p>
                      <a:r>
                        <a:rPr lang="en-US" sz="2000" b="1" dirty="0">
                          <a:solidFill>
                            <a:schemeClr val="bg1"/>
                          </a:solidFill>
                          <a:latin typeface="Times New Roman"/>
                          <a:cs typeface="Times New Roman"/>
                        </a:rPr>
                        <a:t>Tool / Framework</a:t>
                      </a:r>
                    </a:p>
                  </a:txBody>
                  <a:tcPr anchor="ctr">
                    <a:solidFill>
                      <a:schemeClr val="tx1"/>
                    </a:solidFill>
                  </a:tcPr>
                </a:tc>
                <a:tc>
                  <a:txBody>
                    <a:bodyPr/>
                    <a:lstStyle/>
                    <a:p>
                      <a:r>
                        <a:rPr lang="en-US" sz="2000" b="1" dirty="0">
                          <a:solidFill>
                            <a:schemeClr val="bg1"/>
                          </a:solidFill>
                          <a:latin typeface="Times New Roman"/>
                          <a:cs typeface="Times New Roman"/>
                        </a:rPr>
                        <a:t>Purpose</a:t>
                      </a:r>
                    </a:p>
                  </a:txBody>
                  <a:tcPr anchor="ctr">
                    <a:solidFill>
                      <a:schemeClr val="tx1"/>
                    </a:solidFill>
                  </a:tcPr>
                </a:tc>
                <a:extLst>
                  <a:ext uri="{0D108BD9-81ED-4DB2-BD59-A6C34878D82A}">
                    <a16:rowId xmlns:a16="http://schemas.microsoft.com/office/drawing/2014/main" val="10000"/>
                  </a:ext>
                </a:extLst>
              </a:tr>
              <a:tr h="560000">
                <a:tc>
                  <a:txBody>
                    <a:bodyPr/>
                    <a:lstStyle/>
                    <a:p>
                      <a:r>
                        <a:rPr lang="en-US" sz="1800" dirty="0">
                          <a:latin typeface="Times New Roman"/>
                          <a:cs typeface="Times New Roman"/>
                        </a:rPr>
                        <a:t>PDF Extraction</a:t>
                      </a:r>
                    </a:p>
                  </a:txBody>
                  <a:tcPr anchor="ctr"/>
                </a:tc>
                <a:tc>
                  <a:txBody>
                    <a:bodyPr/>
                    <a:lstStyle/>
                    <a:p>
                      <a:r>
                        <a:rPr lang="en-US" sz="1800" dirty="0">
                          <a:latin typeface="Times New Roman"/>
                          <a:cs typeface="Times New Roman"/>
                        </a:rPr>
                        <a:t>pdfplumber (PyMuPDF backup)</a:t>
                      </a:r>
                    </a:p>
                  </a:txBody>
                  <a:tcPr anchor="ctr"/>
                </a:tc>
                <a:tc>
                  <a:txBody>
                    <a:bodyPr/>
                    <a:lstStyle/>
                    <a:p>
                      <a:r>
                        <a:rPr lang="en-US" sz="1800" dirty="0">
                          <a:latin typeface="Times New Roman"/>
                          <a:cs typeface="Times New Roman"/>
                        </a:rPr>
                        <a:t>Text and tables with page numbers</a:t>
                      </a:r>
                    </a:p>
                  </a:txBody>
                  <a:tcPr anchor="ctr"/>
                </a:tc>
                <a:extLst>
                  <a:ext uri="{0D108BD9-81ED-4DB2-BD59-A6C34878D82A}">
                    <a16:rowId xmlns:a16="http://schemas.microsoft.com/office/drawing/2014/main" val="10001"/>
                  </a:ext>
                </a:extLst>
              </a:tr>
              <a:tr h="560000">
                <a:tc>
                  <a:txBody>
                    <a:bodyPr/>
                    <a:lstStyle/>
                    <a:p>
                      <a:r>
                        <a:rPr lang="en-US" sz="1800" dirty="0">
                          <a:latin typeface="Times New Roman"/>
                          <a:cs typeface="Times New Roman"/>
                        </a:rPr>
                        <a:t>Embeddings</a:t>
                      </a:r>
                    </a:p>
                  </a:txBody>
                  <a:tcPr anchor="ctr"/>
                </a:tc>
                <a:tc>
                  <a:txBody>
                    <a:bodyPr/>
                    <a:lstStyle/>
                    <a:p>
                      <a:r>
                        <a:rPr lang="en-US" sz="1800" dirty="0">
                          <a:latin typeface="Times New Roman"/>
                          <a:cs typeface="Times New Roman"/>
                        </a:rPr>
                        <a:t>sentence-transformers</a:t>
                      </a:r>
                    </a:p>
                  </a:txBody>
                  <a:tcPr anchor="ctr"/>
                </a:tc>
                <a:tc>
                  <a:txBody>
                    <a:bodyPr/>
                    <a:lstStyle/>
                    <a:p>
                      <a:r>
                        <a:rPr lang="en-US" sz="1800" dirty="0">
                          <a:latin typeface="Times New Roman"/>
                          <a:cs typeface="Times New Roman"/>
                        </a:rPr>
                        <a:t>Turn text chunks into meaning vectors</a:t>
                      </a:r>
                    </a:p>
                  </a:txBody>
                  <a:tcPr anchor="ctr"/>
                </a:tc>
                <a:extLst>
                  <a:ext uri="{0D108BD9-81ED-4DB2-BD59-A6C34878D82A}">
                    <a16:rowId xmlns:a16="http://schemas.microsoft.com/office/drawing/2014/main" val="10002"/>
                  </a:ext>
                </a:extLst>
              </a:tr>
              <a:tr h="560000">
                <a:tc>
                  <a:txBody>
                    <a:bodyPr/>
                    <a:lstStyle/>
                    <a:p>
                      <a:r>
                        <a:rPr lang="en-US" sz="1800" dirty="0">
                          <a:latin typeface="Times New Roman"/>
                          <a:cs typeface="Times New Roman"/>
                        </a:rPr>
                        <a:t>Search</a:t>
                      </a:r>
                    </a:p>
                  </a:txBody>
                  <a:tcPr anchor="ctr"/>
                </a:tc>
                <a:tc>
                  <a:txBody>
                    <a:bodyPr/>
                    <a:lstStyle/>
                    <a:p>
                      <a:r>
                        <a:rPr lang="en-US" sz="1800" dirty="0">
                          <a:latin typeface="Times New Roman"/>
                          <a:cs typeface="Times New Roman"/>
                        </a:rPr>
                        <a:t>FAISS + rank-bm25</a:t>
                      </a:r>
                    </a:p>
                  </a:txBody>
                  <a:tcPr anchor="ctr"/>
                </a:tc>
                <a:tc>
                  <a:txBody>
                    <a:bodyPr/>
                    <a:lstStyle/>
                    <a:p>
                      <a:r>
                        <a:rPr lang="en-US" sz="1800" dirty="0">
                          <a:latin typeface="Times New Roman"/>
                          <a:cs typeface="Times New Roman"/>
                        </a:rPr>
                        <a:t>Meaning-based and keyword search</a:t>
                      </a:r>
                    </a:p>
                  </a:txBody>
                  <a:tcPr anchor="ctr"/>
                </a:tc>
                <a:extLst>
                  <a:ext uri="{0D108BD9-81ED-4DB2-BD59-A6C34878D82A}">
                    <a16:rowId xmlns:a16="http://schemas.microsoft.com/office/drawing/2014/main" val="10003"/>
                  </a:ext>
                </a:extLst>
              </a:tr>
              <a:tr h="560000">
                <a:tc>
                  <a:txBody>
                    <a:bodyPr/>
                    <a:lstStyle/>
                    <a:p>
                      <a:r>
                        <a:rPr lang="en-US" sz="1800" dirty="0">
                          <a:latin typeface="Times New Roman"/>
                          <a:cs typeface="Times New Roman"/>
                        </a:rPr>
                        <a:t>Language Model</a:t>
                      </a:r>
                    </a:p>
                  </a:txBody>
                  <a:tcPr anchor="ctr"/>
                </a:tc>
                <a:tc>
                  <a:txBody>
                    <a:bodyPr/>
                    <a:lstStyle/>
                    <a:p>
                      <a:r>
                        <a:rPr lang="en-US" sz="1800" dirty="0">
                          <a:latin typeface="Times New Roman"/>
                          <a:cs typeface="Times New Roman"/>
                        </a:rPr>
                        <a:t>Ollama (e.g., Llama 3 8B)</a:t>
                      </a:r>
                    </a:p>
                  </a:txBody>
                  <a:tcPr anchor="ctr"/>
                </a:tc>
                <a:tc>
                  <a:txBody>
                    <a:bodyPr/>
                    <a:lstStyle/>
                    <a:p>
                      <a:r>
                        <a:rPr lang="en-US" sz="1800" dirty="0">
                          <a:latin typeface="Times New Roman"/>
                          <a:cs typeface="Times New Roman"/>
                        </a:rPr>
                        <a:t>Local answers, no cloud needed</a:t>
                      </a:r>
                    </a:p>
                  </a:txBody>
                  <a:tcPr anchor="ctr"/>
                </a:tc>
                <a:extLst>
                  <a:ext uri="{0D108BD9-81ED-4DB2-BD59-A6C34878D82A}">
                    <a16:rowId xmlns:a16="http://schemas.microsoft.com/office/drawing/2014/main" val="10004"/>
                  </a:ext>
                </a:extLst>
              </a:tr>
              <a:tr h="560000">
                <a:tc>
                  <a:txBody>
                    <a:bodyPr/>
                    <a:lstStyle/>
                    <a:p>
                      <a:r>
                        <a:rPr lang="en-US" sz="1800" dirty="0">
                          <a:latin typeface="Times New Roman"/>
                          <a:cs typeface="Times New Roman"/>
                        </a:rPr>
                        <a:t>Evaluation</a:t>
                      </a:r>
                    </a:p>
                  </a:txBody>
                  <a:tcPr anchor="ctr"/>
                </a:tc>
                <a:tc>
                  <a:txBody>
                    <a:bodyPr/>
                    <a:lstStyle/>
                    <a:p>
                      <a:r>
                        <a:rPr lang="en-US" sz="1800" dirty="0">
                          <a:latin typeface="Times New Roman"/>
                          <a:cs typeface="Times New Roman"/>
                        </a:rPr>
                        <a:t>pandas, RAGAS</a:t>
                      </a:r>
                    </a:p>
                  </a:txBody>
                  <a:tcPr anchor="ctr"/>
                </a:tc>
                <a:tc>
                  <a:txBody>
                    <a:bodyPr/>
                    <a:lstStyle/>
                    <a:p>
                      <a:r>
                        <a:rPr lang="en-US" sz="1800" dirty="0">
                          <a:latin typeface="Times New Roman"/>
                          <a:cs typeface="Times New Roman"/>
                        </a:rPr>
                        <a:t>Metrics and faithfulness scores</a:t>
                      </a:r>
                    </a:p>
                  </a:txBody>
                  <a:tcPr anchor="ctr"/>
                </a:tc>
                <a:extLst>
                  <a:ext uri="{0D108BD9-81ED-4DB2-BD59-A6C34878D82A}">
                    <a16:rowId xmlns:a16="http://schemas.microsoft.com/office/drawing/2014/main" val="10005"/>
                  </a:ext>
                </a:extLst>
              </a:tr>
              <a:tr h="560000">
                <a:tc>
                  <a:txBody>
                    <a:bodyPr/>
                    <a:lstStyle/>
                    <a:p>
                      <a:r>
                        <a:rPr lang="en-US" sz="1800" dirty="0">
                          <a:latin typeface="Times New Roman"/>
                          <a:cs typeface="Times New Roman"/>
                        </a:rPr>
                        <a:t>Demo</a:t>
                      </a:r>
                    </a:p>
                  </a:txBody>
                  <a:tcPr anchor="ctr"/>
                </a:tc>
                <a:tc>
                  <a:txBody>
                    <a:bodyPr/>
                    <a:lstStyle/>
                    <a:p>
                      <a:r>
                        <a:rPr lang="en-US" sz="1800" dirty="0">
                          <a:latin typeface="Times New Roman"/>
                          <a:cs typeface="Times New Roman"/>
                        </a:rPr>
                        <a:t>Streamlit</a:t>
                      </a:r>
                    </a:p>
                  </a:txBody>
                  <a:tcPr anchor="ctr"/>
                </a:tc>
                <a:tc>
                  <a:txBody>
                    <a:bodyPr/>
                    <a:lstStyle/>
                    <a:p>
                      <a:r>
                        <a:rPr lang="en-US" sz="1800" dirty="0">
                          <a:latin typeface="Times New Roman"/>
                          <a:cs typeface="Times New Roman"/>
                        </a:rPr>
                        <a:t>Chat window showing source pages</a:t>
                      </a:r>
                    </a:p>
                  </a:txBody>
                  <a:tcPr anchor="ctr"/>
                </a:tc>
                <a:extLst>
                  <a:ext uri="{0D108BD9-81ED-4DB2-BD59-A6C34878D82A}">
                    <a16:rowId xmlns:a16="http://schemas.microsoft.com/office/drawing/2014/main" val="10006"/>
                  </a:ext>
                </a:extLst>
              </a:tr>
              <a:tr h="560000">
                <a:tc>
                  <a:txBody>
                    <a:bodyPr/>
                    <a:lstStyle/>
                    <a:p>
                      <a:r>
                        <a:rPr lang="en-US" sz="1800" dirty="0">
                          <a:latin typeface="Times New Roman"/>
                          <a:cs typeface="Times New Roman"/>
                        </a:rPr>
                        <a:t>Versioning</a:t>
                      </a:r>
                    </a:p>
                  </a:txBody>
                  <a:tcPr anchor="ctr"/>
                </a:tc>
                <a:tc>
                  <a:txBody>
                    <a:bodyPr/>
                    <a:lstStyle/>
                    <a:p>
                      <a:r>
                        <a:rPr lang="en-US" sz="1800" dirty="0">
                          <a:latin typeface="Times New Roman"/>
                          <a:cs typeface="Times New Roman"/>
                        </a:rPr>
                        <a:t>GitHub</a:t>
                      </a:r>
                    </a:p>
                  </a:txBody>
                  <a:tcPr anchor="ctr"/>
                </a:tc>
                <a:tc>
                  <a:txBody>
                    <a:bodyPr/>
                    <a:lstStyle/>
                    <a:p>
                      <a:r>
                        <a:rPr lang="en-US" sz="1800" dirty="0">
                          <a:latin typeface="Times New Roman"/>
                          <a:cs typeface="Times New Roman"/>
                        </a:rPr>
                        <a:t>Code, test set and results</a:t>
                      </a:r>
                    </a:p>
                  </a:txBody>
                  <a:tcPr anchor="ctr"/>
                </a:tc>
                <a:extLst>
                  <a:ext uri="{0D108BD9-81ED-4DB2-BD59-A6C34878D82A}">
                    <a16:rowId xmlns:a16="http://schemas.microsoft.com/office/drawing/2014/main" val="10007"/>
                  </a:ext>
                </a:extLst>
              </a:tr>
            </a:tbl>
          </a:graphicData>
        </a:graphic>
      </p:graphicFrame>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8</a:t>
            </a:fld>
            <a:endParaRPr lang="en-US"/>
          </a:p>
        </p:txBody>
      </p:sp>
    </p:spTree>
  </p:cSld>
  <p:clrMapOvr>
    <a:masterClrMapping/>
  </p:clrMapOvr>
  <p:transition spd="slow">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8822" y="313532"/>
            <a:ext cx="8300000" cy="1030286"/>
          </a:xfrm>
        </p:spPr>
        <p:txBody>
          <a:bodyPr>
            <a:normAutofit/>
          </a:bodyPr>
          <a:lstStyle/>
          <a:p>
            <a:r>
              <a:rPr lang="en-US" sz="3600" b="1" dirty="0">
                <a:latin typeface="Times New Roman"/>
                <a:cs typeface="Times New Roman"/>
              </a:rPr>
              <a:t>Evaluation KPIs:</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graphicFrame>
        <p:nvGraphicFramePr>
          <p:cNvPr id="11" name="Table 11"/>
          <p:cNvGraphicFramePr>
            <a:graphicFrameLocks noGrp="1"/>
          </p:cNvGraphicFramePr>
          <p:nvPr/>
        </p:nvGraphicFramePr>
        <p:xfrm>
          <a:off x="601884" y="1450000"/>
          <a:ext cx="10899998" cy="3000000"/>
        </p:xfrm>
        <a:graphic>
          <a:graphicData uri="http://schemas.openxmlformats.org/drawingml/2006/table">
            <a:tbl>
              <a:tblPr firstRow="1" bandRow="1">
                <a:tableStyleId>{073A0DAA-6AF3-43AB-8588-CEC1D06C72B9}</a:tableStyleId>
              </a:tblPr>
              <a:tblGrid>
                <a:gridCol w="2782978">
                  <a:extLst>
                    <a:ext uri="{9D8B030D-6E8A-4147-A177-3AD203B41FA5}">
                      <a16:colId xmlns:a16="http://schemas.microsoft.com/office/drawing/2014/main" val="20000"/>
                    </a:ext>
                  </a:extLst>
                </a:gridCol>
                <a:gridCol w="5334042">
                  <a:extLst>
                    <a:ext uri="{9D8B030D-6E8A-4147-A177-3AD203B41FA5}">
                      <a16:colId xmlns:a16="http://schemas.microsoft.com/office/drawing/2014/main" val="20001"/>
                    </a:ext>
                  </a:extLst>
                </a:gridCol>
                <a:gridCol w="2782978">
                  <a:extLst>
                    <a:ext uri="{9D8B030D-6E8A-4147-A177-3AD203B41FA5}">
                      <a16:colId xmlns:a16="http://schemas.microsoft.com/office/drawing/2014/main" val="20002"/>
                    </a:ext>
                  </a:extLst>
                </a:gridCol>
              </a:tblGrid>
              <a:tr h="600000">
                <a:tc>
                  <a:txBody>
                    <a:bodyPr/>
                    <a:lstStyle/>
                    <a:p>
                      <a:r>
                        <a:rPr lang="en-US" sz="2000" b="1" dirty="0">
                          <a:solidFill>
                            <a:schemeClr val="bg1"/>
                          </a:solidFill>
                          <a:latin typeface="Times New Roman"/>
                          <a:cs typeface="Times New Roman"/>
                        </a:rPr>
                        <a:t>KPI</a:t>
                      </a:r>
                    </a:p>
                  </a:txBody>
                  <a:tcPr anchor="ctr">
                    <a:solidFill>
                      <a:schemeClr val="tx1"/>
                    </a:solidFill>
                  </a:tcPr>
                </a:tc>
                <a:tc>
                  <a:txBody>
                    <a:bodyPr/>
                    <a:lstStyle/>
                    <a:p>
                      <a:r>
                        <a:rPr lang="en-US" sz="2000" b="1" dirty="0">
                          <a:solidFill>
                            <a:schemeClr val="bg1"/>
                          </a:solidFill>
                          <a:latin typeface="Times New Roman"/>
                          <a:cs typeface="Times New Roman"/>
                        </a:rPr>
                        <a:t>What it measures</a:t>
                      </a:r>
                    </a:p>
                  </a:txBody>
                  <a:tcPr anchor="ctr">
                    <a:solidFill>
                      <a:schemeClr val="tx1"/>
                    </a:solidFill>
                  </a:tcPr>
                </a:tc>
                <a:tc>
                  <a:txBody>
                    <a:bodyPr/>
                    <a:lstStyle/>
                    <a:p>
                      <a:r>
                        <a:rPr lang="en-US" sz="2000" b="1" dirty="0">
                          <a:solidFill>
                            <a:schemeClr val="bg1"/>
                          </a:solidFill>
                          <a:latin typeface="Times New Roman"/>
                          <a:cs typeface="Times New Roman"/>
                        </a:rPr>
                        <a:t>Target</a:t>
                      </a:r>
                    </a:p>
                  </a:txBody>
                  <a:tcPr anchor="ctr">
                    <a:solidFill>
                      <a:schemeClr val="tx1"/>
                    </a:solidFill>
                  </a:tcPr>
                </a:tc>
                <a:extLst>
                  <a:ext uri="{0D108BD9-81ED-4DB2-BD59-A6C34878D82A}">
                    <a16:rowId xmlns:a16="http://schemas.microsoft.com/office/drawing/2014/main" val="10000"/>
                  </a:ext>
                </a:extLst>
              </a:tr>
              <a:tr h="600000">
                <a:tc>
                  <a:txBody>
                    <a:bodyPr/>
                    <a:lstStyle/>
                    <a:p>
                      <a:r>
                        <a:rPr lang="en-US" sz="1800" dirty="0">
                          <a:latin typeface="Times New Roman"/>
                          <a:cs typeface="Times New Roman"/>
                        </a:rPr>
                        <a:t>Retrieval hit rate@5</a:t>
                      </a:r>
                    </a:p>
                  </a:txBody>
                  <a:tcPr anchor="ctr"/>
                </a:tc>
                <a:tc>
                  <a:txBody>
                    <a:bodyPr/>
                    <a:lstStyle/>
                    <a:p>
                      <a:r>
                        <a:rPr lang="en-US" sz="1800" dirty="0">
                          <a:latin typeface="Times New Roman"/>
                          <a:cs typeface="Times New Roman"/>
                        </a:rPr>
                        <a:t>Correct page is among the top 5 chunks</a:t>
                      </a:r>
                    </a:p>
                  </a:txBody>
                  <a:tcPr anchor="ctr"/>
                </a:tc>
                <a:tc>
                  <a:txBody>
                    <a:bodyPr/>
                    <a:lstStyle/>
                    <a:p>
                      <a:r>
                        <a:rPr lang="en-US" sz="1800" dirty="0">
                          <a:latin typeface="Times New Roman"/>
                          <a:cs typeface="Times New Roman"/>
                        </a:rPr>
                        <a:t>≥ 80%</a:t>
                      </a:r>
                    </a:p>
                  </a:txBody>
                  <a:tcPr anchor="ctr"/>
                </a:tc>
                <a:extLst>
                  <a:ext uri="{0D108BD9-81ED-4DB2-BD59-A6C34878D82A}">
                    <a16:rowId xmlns:a16="http://schemas.microsoft.com/office/drawing/2014/main" val="10001"/>
                  </a:ext>
                </a:extLst>
              </a:tr>
              <a:tr h="600000">
                <a:tc>
                  <a:txBody>
                    <a:bodyPr/>
                    <a:lstStyle/>
                    <a:p>
                      <a:r>
                        <a:rPr lang="en-US" sz="1800" dirty="0">
                          <a:latin typeface="Times New Roman"/>
                          <a:cs typeface="Times New Roman"/>
                        </a:rPr>
                        <a:t>Answer accuracy</a:t>
                      </a:r>
                    </a:p>
                  </a:txBody>
                  <a:tcPr anchor="ctr"/>
                </a:tc>
                <a:tc>
                  <a:txBody>
                    <a:bodyPr/>
                    <a:lstStyle/>
                    <a:p>
                      <a:r>
                        <a:rPr lang="en-US" sz="1800" dirty="0">
                          <a:latin typeface="Times New Roman"/>
                          <a:cs typeface="Times New Roman"/>
                        </a:rPr>
                        <a:t>Answer judged correct (rubric, 2 reviewers)</a:t>
                      </a:r>
                    </a:p>
                  </a:txBody>
                  <a:tcPr anchor="ctr"/>
                </a:tc>
                <a:tc>
                  <a:txBody>
                    <a:bodyPr/>
                    <a:lstStyle/>
                    <a:p>
                      <a:r>
                        <a:rPr lang="en-US" sz="1800" dirty="0">
                          <a:latin typeface="Times New Roman"/>
                          <a:cs typeface="Times New Roman"/>
                        </a:rPr>
                        <a:t>≥ 75%, beats baselines</a:t>
                      </a:r>
                    </a:p>
                  </a:txBody>
                  <a:tcPr anchor="ctr"/>
                </a:tc>
                <a:extLst>
                  <a:ext uri="{0D108BD9-81ED-4DB2-BD59-A6C34878D82A}">
                    <a16:rowId xmlns:a16="http://schemas.microsoft.com/office/drawing/2014/main" val="10002"/>
                  </a:ext>
                </a:extLst>
              </a:tr>
              <a:tr h="600000">
                <a:tc>
                  <a:txBody>
                    <a:bodyPr/>
                    <a:lstStyle/>
                    <a:p>
                      <a:r>
                        <a:rPr lang="en-US" sz="1800" dirty="0">
                          <a:latin typeface="Times New Roman"/>
                          <a:cs typeface="Times New Roman"/>
                        </a:rPr>
                        <a:t>Refusal rate</a:t>
                      </a:r>
                    </a:p>
                  </a:txBody>
                  <a:tcPr anchor="ctr"/>
                </a:tc>
                <a:tc>
                  <a:txBody>
                    <a:bodyPr/>
                    <a:lstStyle/>
                    <a:p>
                      <a:r>
                        <a:rPr lang="en-US" sz="1800" dirty="0">
                          <a:latin typeface="Times New Roman"/>
                          <a:cs typeface="Times New Roman"/>
                        </a:rPr>
                        <a:t>“I don’t know” on unanswerable questions</a:t>
                      </a:r>
                    </a:p>
                  </a:txBody>
                  <a:tcPr anchor="ctr"/>
                </a:tc>
                <a:tc>
                  <a:txBody>
                    <a:bodyPr/>
                    <a:lstStyle/>
                    <a:p>
                      <a:r>
                        <a:rPr lang="en-US" sz="1800" dirty="0">
                          <a:latin typeface="Times New Roman"/>
                          <a:cs typeface="Times New Roman"/>
                        </a:rPr>
                        <a:t>≥ 80%</a:t>
                      </a:r>
                    </a:p>
                  </a:txBody>
                  <a:tcPr anchor="ctr"/>
                </a:tc>
                <a:extLst>
                  <a:ext uri="{0D108BD9-81ED-4DB2-BD59-A6C34878D82A}">
                    <a16:rowId xmlns:a16="http://schemas.microsoft.com/office/drawing/2014/main" val="10003"/>
                  </a:ext>
                </a:extLst>
              </a:tr>
              <a:tr h="600000">
                <a:tc>
                  <a:txBody>
                    <a:bodyPr/>
                    <a:lstStyle/>
                    <a:p>
                      <a:r>
                        <a:rPr lang="en-US" sz="1800" dirty="0">
                          <a:latin typeface="Times New Roman"/>
                          <a:cs typeface="Times New Roman"/>
                        </a:rPr>
                        <a:t>Response time</a:t>
                      </a:r>
                    </a:p>
                  </a:txBody>
                  <a:tcPr anchor="ctr"/>
                </a:tc>
                <a:tc>
                  <a:txBody>
                    <a:bodyPr/>
                    <a:lstStyle/>
                    <a:p>
                      <a:r>
                        <a:rPr lang="en-US" sz="1800" dirty="0">
                          <a:latin typeface="Times New Roman"/>
                          <a:cs typeface="Times New Roman"/>
                        </a:rPr>
                        <a:t>Median seconds per answer on a laptop</a:t>
                      </a:r>
                    </a:p>
                  </a:txBody>
                  <a:tcPr anchor="ctr"/>
                </a:tc>
                <a:tc>
                  <a:txBody>
                    <a:bodyPr/>
                    <a:lstStyle/>
                    <a:p>
                      <a:r>
                        <a:rPr lang="en-US" sz="1800" dirty="0">
                          <a:latin typeface="Times New Roman"/>
                          <a:cs typeface="Times New Roman"/>
                        </a:rPr>
                        <a:t>≤ 10 s</a:t>
                      </a:r>
                    </a:p>
                  </a:txBody>
                  <a:tcPr anchor="ctr"/>
                </a:tc>
                <a:extLst>
                  <a:ext uri="{0D108BD9-81ED-4DB2-BD59-A6C34878D82A}">
                    <a16:rowId xmlns:a16="http://schemas.microsoft.com/office/drawing/2014/main" val="10004"/>
                  </a:ext>
                </a:extLst>
              </a:tr>
            </a:tbl>
          </a:graphicData>
        </a:graphic>
      </p:graphicFrame>
      <p:sp>
        <p:nvSpPr>
          <p:cNvPr id="12" name="TextBox 12"/>
          <p:cNvSpPr txBox="1"/>
          <p:nvPr/>
        </p:nvSpPr>
        <p:spPr>
          <a:xfrm>
            <a:off x="601884" y="4650000"/>
            <a:ext cx="10900000" cy="1300000"/>
          </a:xfrm>
          <a:prstGeom prst="rect">
            <a:avLst/>
          </a:prstGeom>
          <a:noFill/>
          <a:ln>
            <a:noFill/>
          </a:ln>
        </p:spPr>
        <p:txBody>
          <a:bodyPr wrap="square" lIns="91440" tIns="45720" rIns="91440" bIns="45720" anchor="t">
            <a:normAutofit/>
          </a:bodyPr>
          <a:lstStyle/>
          <a:p>
            <a:pPr marL="0" indent="0" algn="l">
              <a:spcBef>
                <a:spcPts val="0"/>
              </a:spcBef>
              <a:spcAft>
                <a:spcPts val="300"/>
              </a:spcAft>
              <a:buNone/>
            </a:pPr>
            <a:r>
              <a:rPr lang="en-US" sz="1800" b="1" dirty="0">
                <a:latin typeface="Times New Roman"/>
                <a:cs typeface="Times New Roman"/>
              </a:rPr>
              <a:t>Compared on the same 60-question test set: </a:t>
            </a:r>
            <a:r>
              <a:rPr lang="en-US" sz="1800" dirty="0">
                <a:latin typeface="Times New Roman"/>
                <a:cs typeface="Times New Roman"/>
              </a:rPr>
              <a:t>plain LLM · BM25 RAG · meaning-based RAG · hybrid RAG.</a:t>
            </a:r>
          </a:p>
          <a:p>
            <a:pPr marL="0" indent="0" algn="l">
              <a:spcBef>
                <a:spcPts val="0"/>
              </a:spcBef>
              <a:spcAft>
                <a:spcPts val="0"/>
              </a:spcAft>
              <a:buNone/>
            </a:pPr>
            <a:r>
              <a:rPr lang="en-US" sz="1600" i="1" dirty="0">
                <a:latin typeface="Times New Roman"/>
                <a:cs typeface="Times New Roman"/>
              </a:rPr>
              <a:t>Targets are our goals; final values will come from the experiments.</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9</a:t>
            </a:fld>
            <a:endParaRPr lang="en-US"/>
          </a:p>
        </p:txBody>
      </p:sp>
    </p:spTree>
  </p:cSld>
  <p:clrMapOvr>
    <a:masterClrMapping/>
  </p:clrMapOvr>
  <p:transition spd="slow">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1799" y="313532"/>
            <a:ext cx="8300000" cy="1030286"/>
          </a:xfrm>
        </p:spPr>
        <p:txBody>
          <a:bodyPr>
            <a:normAutofit/>
          </a:bodyPr>
          <a:lstStyle/>
          <a:p>
            <a:r>
              <a:rPr lang="en-US" sz="3600" b="1" dirty="0">
                <a:latin typeface="Times New Roman"/>
                <a:cs typeface="Times New Roman"/>
              </a:rPr>
              <a:t>Bill of Materials (BOM):</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graphicFrame>
        <p:nvGraphicFramePr>
          <p:cNvPr id="11" name="Table 11"/>
          <p:cNvGraphicFramePr>
            <a:graphicFrameLocks noGrp="1"/>
          </p:cNvGraphicFramePr>
          <p:nvPr/>
        </p:nvGraphicFramePr>
        <p:xfrm>
          <a:off x="431800" y="1500000"/>
          <a:ext cx="11299998" cy="3740080"/>
        </p:xfrm>
        <a:graphic>
          <a:graphicData uri="http://schemas.openxmlformats.org/drawingml/2006/table">
            <a:tbl>
              <a:tblPr firstRow="1" bandRow="1">
                <a:tableStyleId>{073A0DAA-6AF3-43AB-8588-CEC1D06C72B9}</a:tableStyleId>
              </a:tblPr>
              <a:tblGrid>
                <a:gridCol w="2825000">
                  <a:extLst>
                    <a:ext uri="{9D8B030D-6E8A-4147-A177-3AD203B41FA5}">
                      <a16:colId xmlns:a16="http://schemas.microsoft.com/office/drawing/2014/main" val="20000"/>
                    </a:ext>
                  </a:extLst>
                </a:gridCol>
                <a:gridCol w="4998076">
                  <a:extLst>
                    <a:ext uri="{9D8B030D-6E8A-4147-A177-3AD203B41FA5}">
                      <a16:colId xmlns:a16="http://schemas.microsoft.com/office/drawing/2014/main" val="20001"/>
                    </a:ext>
                  </a:extLst>
                </a:gridCol>
                <a:gridCol w="1738461">
                  <a:extLst>
                    <a:ext uri="{9D8B030D-6E8A-4147-A177-3AD203B41FA5}">
                      <a16:colId xmlns:a16="http://schemas.microsoft.com/office/drawing/2014/main" val="20002"/>
                    </a:ext>
                  </a:extLst>
                </a:gridCol>
                <a:gridCol w="1738461">
                  <a:extLst>
                    <a:ext uri="{9D8B030D-6E8A-4147-A177-3AD203B41FA5}">
                      <a16:colId xmlns:a16="http://schemas.microsoft.com/office/drawing/2014/main" val="20003"/>
                    </a:ext>
                  </a:extLst>
                </a:gridCol>
              </a:tblGrid>
              <a:tr h="620000">
                <a:tc>
                  <a:txBody>
                    <a:bodyPr/>
                    <a:lstStyle/>
                    <a:p>
                      <a:pPr algn="ctr"/>
                      <a:r>
                        <a:rPr lang="en-US" sz="2200" b="1" dirty="0">
                          <a:solidFill>
                            <a:schemeClr val="bg1"/>
                          </a:solidFill>
                          <a:latin typeface="Times New Roman"/>
                          <a:cs typeface="Times New Roman"/>
                        </a:rPr>
                        <a:t>Component</a:t>
                      </a:r>
                    </a:p>
                  </a:txBody>
                  <a:tcPr anchor="ctr">
                    <a:solidFill>
                      <a:schemeClr val="tx1"/>
                    </a:solidFill>
                  </a:tcPr>
                </a:tc>
                <a:tc>
                  <a:txBody>
                    <a:bodyPr/>
                    <a:lstStyle/>
                    <a:p>
                      <a:pPr algn="ctr"/>
                      <a:r>
                        <a:rPr lang="en-US" sz="2200" b="1" dirty="0">
                          <a:solidFill>
                            <a:schemeClr val="bg1"/>
                          </a:solidFill>
                          <a:latin typeface="Times New Roman"/>
                          <a:cs typeface="Times New Roman"/>
                        </a:rPr>
                        <a:t>Specifications</a:t>
                      </a:r>
                    </a:p>
                  </a:txBody>
                  <a:tcPr anchor="ctr">
                    <a:solidFill>
                      <a:schemeClr val="tx1"/>
                    </a:solidFill>
                  </a:tcPr>
                </a:tc>
                <a:tc>
                  <a:txBody>
                    <a:bodyPr/>
                    <a:lstStyle/>
                    <a:p>
                      <a:pPr algn="ctr"/>
                      <a:r>
                        <a:rPr lang="en-US" sz="2200" b="1" dirty="0">
                          <a:solidFill>
                            <a:schemeClr val="bg1"/>
                          </a:solidFill>
                          <a:latin typeface="Times New Roman"/>
                          <a:cs typeface="Times New Roman"/>
                        </a:rPr>
                        <a:t>Quantity</a:t>
                      </a:r>
                    </a:p>
                  </a:txBody>
                  <a:tcPr anchor="ctr">
                    <a:solidFill>
                      <a:schemeClr val="tx1"/>
                    </a:solidFill>
                  </a:tcPr>
                </a:tc>
                <a:tc>
                  <a:txBody>
                    <a:bodyPr/>
                    <a:lstStyle/>
                    <a:p>
                      <a:pPr algn="ctr"/>
                      <a:r>
                        <a:rPr lang="en-US" sz="2200" b="1" dirty="0">
                          <a:solidFill>
                            <a:schemeClr val="bg1"/>
                          </a:solidFill>
                          <a:latin typeface="Times New Roman"/>
                          <a:cs typeface="Times New Roman"/>
                        </a:rPr>
                        <a:t>Cost</a:t>
                      </a:r>
                    </a:p>
                  </a:txBody>
                  <a:tcPr anchor="ctr">
                    <a:solidFill>
                      <a:schemeClr val="tx1"/>
                    </a:solidFill>
                  </a:tcPr>
                </a:tc>
                <a:extLst>
                  <a:ext uri="{0D108BD9-81ED-4DB2-BD59-A6C34878D82A}">
                    <a16:rowId xmlns:a16="http://schemas.microsoft.com/office/drawing/2014/main" val="10000"/>
                  </a:ext>
                </a:extLst>
              </a:tr>
              <a:tr h="620000">
                <a:tc>
                  <a:txBody>
                    <a:bodyPr/>
                    <a:lstStyle/>
                    <a:p>
                      <a:pPr algn="ctr"/>
                      <a:r>
                        <a:rPr lang="en-US" sz="1800" dirty="0">
                          <a:latin typeface="Times New Roman"/>
                          <a:cs typeface="Times New Roman"/>
                        </a:rPr>
                        <a:t>Laptops</a:t>
                      </a:r>
                    </a:p>
                  </a:txBody>
                  <a:tcPr anchor="ctr"/>
                </a:tc>
                <a:tc>
                  <a:txBody>
                    <a:bodyPr/>
                    <a:lstStyle/>
                    <a:p>
                      <a:pPr algn="ctr"/>
                      <a:r>
                        <a:rPr lang="en-US" sz="1800" dirty="0">
                          <a:latin typeface="Times New Roman"/>
                          <a:cs typeface="Times New Roman"/>
                        </a:rPr>
                        <a:t>Team members’ own computers</a:t>
                      </a:r>
                    </a:p>
                  </a:txBody>
                  <a:tcPr anchor="ctr"/>
                </a:tc>
                <a:tc>
                  <a:txBody>
                    <a:bodyPr/>
                    <a:lstStyle/>
                    <a:p>
                      <a:pPr algn="ctr"/>
                      <a:r>
                        <a:rPr lang="en-US" sz="1800" dirty="0">
                          <a:latin typeface="Times New Roman"/>
                          <a:cs typeface="Times New Roman"/>
                        </a:rPr>
                        <a:t>3</a:t>
                      </a:r>
                    </a:p>
                  </a:txBody>
                  <a:tcPr anchor="ctr"/>
                </a:tc>
                <a:tc>
                  <a:txBody>
                    <a:bodyPr/>
                    <a:lstStyle/>
                    <a:p>
                      <a:pPr algn="ctr"/>
                      <a:r>
                        <a:rPr lang="en-US" sz="1800" dirty="0">
                          <a:latin typeface="Times New Roman"/>
                          <a:cs typeface="Times New Roman"/>
                        </a:rPr>
                        <a:t>Free (own)</a:t>
                      </a:r>
                    </a:p>
                  </a:txBody>
                  <a:tcPr anchor="ctr"/>
                </a:tc>
                <a:extLst>
                  <a:ext uri="{0D108BD9-81ED-4DB2-BD59-A6C34878D82A}">
                    <a16:rowId xmlns:a16="http://schemas.microsoft.com/office/drawing/2014/main" val="10001"/>
                  </a:ext>
                </a:extLst>
              </a:tr>
              <a:tr h="620000">
                <a:tc>
                  <a:txBody>
                    <a:bodyPr/>
                    <a:lstStyle/>
                    <a:p>
                      <a:pPr algn="ctr"/>
                      <a:r>
                        <a:rPr lang="en-US" sz="1800" dirty="0">
                          <a:latin typeface="Times New Roman"/>
                          <a:cs typeface="Times New Roman"/>
                        </a:rPr>
                        <a:t>GPU access (Colab Pro)</a:t>
                      </a:r>
                    </a:p>
                  </a:txBody>
                  <a:tcPr anchor="ctr"/>
                </a:tc>
                <a:tc>
                  <a:txBody>
                    <a:bodyPr/>
                    <a:lstStyle/>
                    <a:p>
                      <a:pPr algn="ctr"/>
                      <a:r>
                        <a:rPr lang="en-US" sz="1800" dirty="0">
                          <a:latin typeface="Times New Roman"/>
                          <a:cs typeface="Times New Roman"/>
                        </a:rPr>
                        <a:t>Cloud compute, optional</a:t>
                      </a:r>
                    </a:p>
                  </a:txBody>
                  <a:tcPr anchor="ctr"/>
                </a:tc>
                <a:tc>
                  <a:txBody>
                    <a:bodyPr/>
                    <a:lstStyle/>
                    <a:p>
                      <a:pPr algn="ctr"/>
                      <a:r>
                        <a:rPr lang="en-US" sz="1800" dirty="0">
                          <a:latin typeface="Times New Roman"/>
                          <a:cs typeface="Times New Roman"/>
                        </a:rPr>
                        <a:t>3 months</a:t>
                      </a:r>
                    </a:p>
                  </a:txBody>
                  <a:tcPr anchor="ctr"/>
                </a:tc>
                <a:tc>
                  <a:txBody>
                    <a:bodyPr/>
                    <a:lstStyle/>
                    <a:p>
                      <a:pPr algn="ctr"/>
                      <a:r>
                        <a:rPr lang="en-US" sz="1800" dirty="0">
                          <a:latin typeface="Times New Roman"/>
                          <a:cs typeface="Times New Roman"/>
                        </a:rPr>
                        <a:t>€0–30</a:t>
                      </a:r>
                    </a:p>
                  </a:txBody>
                  <a:tcPr anchor="ctr"/>
                </a:tc>
                <a:extLst>
                  <a:ext uri="{0D108BD9-81ED-4DB2-BD59-A6C34878D82A}">
                    <a16:rowId xmlns:a16="http://schemas.microsoft.com/office/drawing/2014/main" val="10002"/>
                  </a:ext>
                </a:extLst>
              </a:tr>
              <a:tr h="620000">
                <a:tc>
                  <a:txBody>
                    <a:bodyPr/>
                    <a:lstStyle/>
                    <a:p>
                      <a:pPr algn="ctr"/>
                      <a:r>
                        <a:rPr lang="en-US" sz="1800" dirty="0">
                          <a:latin typeface="Times New Roman"/>
                          <a:cs typeface="Times New Roman"/>
                        </a:rPr>
                        <a:t>Manuals (data)</a:t>
                      </a:r>
                    </a:p>
                  </a:txBody>
                  <a:tcPr anchor="ctr"/>
                </a:tc>
                <a:tc>
                  <a:txBody>
                    <a:bodyPr/>
                    <a:lstStyle/>
                    <a:p>
                      <a:pPr algn="ctr"/>
                      <a:r>
                        <a:rPr lang="en-US" sz="1800" dirty="0">
                          <a:latin typeface="Times New Roman"/>
                          <a:cs typeface="Times New Roman"/>
                        </a:rPr>
                        <a:t>UR5e user manual, OSHA forklift guidance, 1–2 more public PDFs</a:t>
                      </a:r>
                    </a:p>
                  </a:txBody>
                  <a:tcPr anchor="ctr"/>
                </a:tc>
                <a:tc>
                  <a:txBody>
                    <a:bodyPr/>
                    <a:lstStyle/>
                    <a:p>
                      <a:pPr algn="ctr"/>
                      <a:r>
                        <a:rPr lang="en-US" sz="1800" dirty="0">
                          <a:latin typeface="Times New Roman"/>
                          <a:cs typeface="Times New Roman"/>
                        </a:rPr>
                        <a:t>3–4</a:t>
                      </a:r>
                    </a:p>
                  </a:txBody>
                  <a:tcPr anchor="ctr"/>
                </a:tc>
                <a:tc>
                  <a:txBody>
                    <a:bodyPr/>
                    <a:lstStyle/>
                    <a:p>
                      <a:pPr algn="ctr"/>
                      <a:r>
                        <a:rPr lang="en-US" sz="1800" dirty="0">
                          <a:latin typeface="Times New Roman"/>
                          <a:cs typeface="Times New Roman"/>
                        </a:rPr>
                        <a:t>Free</a:t>
                      </a:r>
                    </a:p>
                  </a:txBody>
                  <a:tcPr anchor="ctr"/>
                </a:tc>
                <a:extLst>
                  <a:ext uri="{0D108BD9-81ED-4DB2-BD59-A6C34878D82A}">
                    <a16:rowId xmlns:a16="http://schemas.microsoft.com/office/drawing/2014/main" val="10003"/>
                  </a:ext>
                </a:extLst>
              </a:tr>
              <a:tr h="620000">
                <a:tc>
                  <a:txBody>
                    <a:bodyPr/>
                    <a:lstStyle/>
                    <a:p>
                      <a:pPr algn="ctr"/>
                      <a:r>
                        <a:rPr lang="en-US" sz="1800" dirty="0">
                          <a:latin typeface="Times New Roman"/>
                          <a:cs typeface="Times New Roman"/>
                        </a:rPr>
                        <a:t>Software</a:t>
                      </a:r>
                    </a:p>
                  </a:txBody>
                  <a:tcPr anchor="ctr"/>
                </a:tc>
                <a:tc>
                  <a:txBody>
                    <a:bodyPr/>
                    <a:lstStyle/>
                    <a:p>
                      <a:pPr algn="ctr"/>
                      <a:r>
                        <a:rPr lang="en-US" sz="1800" dirty="0">
                          <a:latin typeface="Times New Roman"/>
                          <a:cs typeface="Times New Roman"/>
                        </a:rPr>
                        <a:t>Python, Ollama, FAISS, Streamlit (open source)</a:t>
                      </a:r>
                    </a:p>
                  </a:txBody>
                  <a:tcPr anchor="ctr"/>
                </a:tc>
                <a:tc>
                  <a:txBody>
                    <a:bodyPr/>
                    <a:lstStyle/>
                    <a:p>
                      <a:pPr algn="ctr"/>
                      <a:r>
                        <a:rPr lang="en-US" sz="1800" dirty="0">
                          <a:latin typeface="Times New Roman"/>
                          <a:cs typeface="Times New Roman"/>
                        </a:rPr>
                        <a:t>-</a:t>
                      </a:r>
                    </a:p>
                  </a:txBody>
                  <a:tcPr anchor="ctr"/>
                </a:tc>
                <a:tc>
                  <a:txBody>
                    <a:bodyPr/>
                    <a:lstStyle/>
                    <a:p>
                      <a:pPr algn="ctr"/>
                      <a:r>
                        <a:rPr lang="en-US" sz="1800" dirty="0">
                          <a:latin typeface="Times New Roman"/>
                          <a:cs typeface="Times New Roman"/>
                        </a:rPr>
                        <a:t>Free</a:t>
                      </a:r>
                    </a:p>
                  </a:txBody>
                  <a:tcPr anchor="ctr"/>
                </a:tc>
                <a:extLst>
                  <a:ext uri="{0D108BD9-81ED-4DB2-BD59-A6C34878D82A}">
                    <a16:rowId xmlns:a16="http://schemas.microsoft.com/office/drawing/2014/main" val="10004"/>
                  </a:ext>
                </a:extLst>
              </a:tr>
              <a:tr h="620000">
                <a:tc>
                  <a:txBody>
                    <a:bodyPr/>
                    <a:lstStyle/>
                    <a:p>
                      <a:pPr algn="ctr"/>
                      <a:r>
                        <a:rPr lang="en-US" sz="1800" dirty="0">
                          <a:latin typeface="Times New Roman"/>
                          <a:cs typeface="Times New Roman"/>
                        </a:rPr>
                        <a:t>Repository</a:t>
                      </a:r>
                    </a:p>
                  </a:txBody>
                  <a:tcPr anchor="ctr"/>
                </a:tc>
                <a:tc>
                  <a:txBody>
                    <a:bodyPr/>
                    <a:lstStyle/>
                    <a:p>
                      <a:pPr algn="ctr"/>
                      <a:r>
                        <a:rPr lang="en-US" sz="1800" dirty="0">
                          <a:latin typeface="Times New Roman"/>
                          <a:cs typeface="Times New Roman"/>
                        </a:rPr>
                        <a:t>GitHub</a:t>
                      </a:r>
                    </a:p>
                  </a:txBody>
                  <a:tcPr anchor="ctr"/>
                </a:tc>
                <a:tc>
                  <a:txBody>
                    <a:bodyPr/>
                    <a:lstStyle/>
                    <a:p>
                      <a:pPr algn="ctr"/>
                      <a:r>
                        <a:rPr lang="en-US" sz="1800" dirty="0">
                          <a:latin typeface="Times New Roman"/>
                          <a:cs typeface="Times New Roman"/>
                        </a:rPr>
                        <a:t>1</a:t>
                      </a:r>
                    </a:p>
                  </a:txBody>
                  <a:tcPr anchor="ctr"/>
                </a:tc>
                <a:tc>
                  <a:txBody>
                    <a:bodyPr/>
                    <a:lstStyle/>
                    <a:p>
                      <a:pPr algn="ctr"/>
                      <a:r>
                        <a:rPr lang="en-US" sz="1800" dirty="0">
                          <a:latin typeface="Times New Roman"/>
                          <a:cs typeface="Times New Roman"/>
                        </a:rPr>
                        <a:t>Free</a:t>
                      </a:r>
                    </a:p>
                  </a:txBody>
                  <a:tcPr anchor="ctr"/>
                </a:tc>
                <a:extLst>
                  <a:ext uri="{0D108BD9-81ED-4DB2-BD59-A6C34878D82A}">
                    <a16:rowId xmlns:a16="http://schemas.microsoft.com/office/drawing/2014/main" val="10005"/>
                  </a:ext>
                </a:extLst>
              </a:tr>
            </a:tbl>
          </a:graphicData>
        </a:graphic>
      </p:graphicFrame>
      <p:sp>
        <p:nvSpPr>
          <p:cNvPr id="12" name="TextBox 12"/>
          <p:cNvSpPr txBox="1"/>
          <p:nvPr/>
        </p:nvSpPr>
        <p:spPr>
          <a:xfrm>
            <a:off x="431800" y="5400000"/>
            <a:ext cx="11300000" cy="500000"/>
          </a:xfrm>
          <a:prstGeom prst="rect">
            <a:avLst/>
          </a:prstGeom>
          <a:noFill/>
          <a:ln>
            <a:noFill/>
          </a:ln>
        </p:spPr>
        <p:txBody>
          <a:bodyPr wrap="square" lIns="91440" tIns="45720" rIns="91440" bIns="45720" anchor="t">
            <a:normAutofit/>
          </a:bodyPr>
          <a:lstStyle/>
          <a:p>
            <a:pPr marL="0" indent="0" algn="l">
              <a:spcBef>
                <a:spcPts val="0"/>
              </a:spcBef>
              <a:spcAft>
                <a:spcPts val="0"/>
              </a:spcAft>
              <a:buNone/>
            </a:pPr>
            <a:r>
              <a:rPr lang="en-US" sz="2000" b="1" dirty="0">
                <a:latin typeface="Times New Roman"/>
                <a:cs typeface="Times New Roman"/>
              </a:rPr>
              <a:t>Total estimated cost: €0–30</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10</a:t>
            </a:fld>
            <a:endParaRPr lang="en-US"/>
          </a:p>
        </p:txBody>
      </p:sp>
    </p:spTree>
  </p:cSld>
  <p:clrMapOvr>
    <a:masterClrMapping/>
  </p:clrMapOvr>
  <p:transition spd="slow">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Gantt Table"/>
          <p:cNvGraphicFramePr>
            <a:graphicFrameLocks noGrp="1"/>
          </p:cNvGraphicFramePr>
          <p:nvPr/>
        </p:nvGraphicFramePr>
        <p:xfrm>
          <a:off x="0" y="856193"/>
          <a:ext cx="12192013" cy="5440000"/>
        </p:xfrm>
        <a:graphic>
          <a:graphicData uri="http://schemas.openxmlformats.org/drawingml/2006/table">
            <a:tbl>
              <a:tblPr bandRow="1">
                <a:tableStyleId>{00A15C55-8517-42AA-B614-E9B94910E393}</a:tableStyleId>
              </a:tblPr>
              <a:tblGrid>
                <a:gridCol w="2533754">
                  <a:extLst>
                    <a:ext uri="{9D8B030D-6E8A-4147-A177-3AD203B41FA5}">
                      <a16:colId xmlns:a16="http://schemas.microsoft.com/office/drawing/2014/main" val="20000"/>
                    </a:ext>
                  </a:extLst>
                </a:gridCol>
                <a:gridCol w="742943">
                  <a:extLst>
                    <a:ext uri="{9D8B030D-6E8A-4147-A177-3AD203B41FA5}">
                      <a16:colId xmlns:a16="http://schemas.microsoft.com/office/drawing/2014/main" val="20001"/>
                    </a:ext>
                  </a:extLst>
                </a:gridCol>
                <a:gridCol w="742943">
                  <a:extLst>
                    <a:ext uri="{9D8B030D-6E8A-4147-A177-3AD203B41FA5}">
                      <a16:colId xmlns:a16="http://schemas.microsoft.com/office/drawing/2014/main" val="20002"/>
                    </a:ext>
                  </a:extLst>
                </a:gridCol>
                <a:gridCol w="742943">
                  <a:extLst>
                    <a:ext uri="{9D8B030D-6E8A-4147-A177-3AD203B41FA5}">
                      <a16:colId xmlns:a16="http://schemas.microsoft.com/office/drawing/2014/main" val="20003"/>
                    </a:ext>
                  </a:extLst>
                </a:gridCol>
                <a:gridCol w="742943">
                  <a:extLst>
                    <a:ext uri="{9D8B030D-6E8A-4147-A177-3AD203B41FA5}">
                      <a16:colId xmlns:a16="http://schemas.microsoft.com/office/drawing/2014/main" val="20004"/>
                    </a:ext>
                  </a:extLst>
                </a:gridCol>
                <a:gridCol w="742943">
                  <a:extLst>
                    <a:ext uri="{9D8B030D-6E8A-4147-A177-3AD203B41FA5}">
                      <a16:colId xmlns:a16="http://schemas.microsoft.com/office/drawing/2014/main" val="20005"/>
                    </a:ext>
                  </a:extLst>
                </a:gridCol>
                <a:gridCol w="742943">
                  <a:extLst>
                    <a:ext uri="{9D8B030D-6E8A-4147-A177-3AD203B41FA5}">
                      <a16:colId xmlns:a16="http://schemas.microsoft.com/office/drawing/2014/main" val="20006"/>
                    </a:ext>
                  </a:extLst>
                </a:gridCol>
                <a:gridCol w="742943">
                  <a:extLst>
                    <a:ext uri="{9D8B030D-6E8A-4147-A177-3AD203B41FA5}">
                      <a16:colId xmlns:a16="http://schemas.microsoft.com/office/drawing/2014/main" val="20007"/>
                    </a:ext>
                  </a:extLst>
                </a:gridCol>
                <a:gridCol w="742943">
                  <a:extLst>
                    <a:ext uri="{9D8B030D-6E8A-4147-A177-3AD203B41FA5}">
                      <a16:colId xmlns:a16="http://schemas.microsoft.com/office/drawing/2014/main" val="20008"/>
                    </a:ext>
                  </a:extLst>
                </a:gridCol>
                <a:gridCol w="742943">
                  <a:extLst>
                    <a:ext uri="{9D8B030D-6E8A-4147-A177-3AD203B41FA5}">
                      <a16:colId xmlns:a16="http://schemas.microsoft.com/office/drawing/2014/main" val="20009"/>
                    </a:ext>
                  </a:extLst>
                </a:gridCol>
                <a:gridCol w="742943">
                  <a:extLst>
                    <a:ext uri="{9D8B030D-6E8A-4147-A177-3AD203B41FA5}">
                      <a16:colId xmlns:a16="http://schemas.microsoft.com/office/drawing/2014/main" val="20010"/>
                    </a:ext>
                  </a:extLst>
                </a:gridCol>
                <a:gridCol w="742943">
                  <a:extLst>
                    <a:ext uri="{9D8B030D-6E8A-4147-A177-3AD203B41FA5}">
                      <a16:colId xmlns:a16="http://schemas.microsoft.com/office/drawing/2014/main" val="20011"/>
                    </a:ext>
                  </a:extLst>
                </a:gridCol>
                <a:gridCol w="742943">
                  <a:extLst>
                    <a:ext uri="{9D8B030D-6E8A-4147-A177-3AD203B41FA5}">
                      <a16:colId xmlns:a16="http://schemas.microsoft.com/office/drawing/2014/main" val="20012"/>
                    </a:ext>
                  </a:extLst>
                </a:gridCol>
                <a:gridCol w="742943">
                  <a:extLst>
                    <a:ext uri="{9D8B030D-6E8A-4147-A177-3AD203B41FA5}">
                      <a16:colId xmlns:a16="http://schemas.microsoft.com/office/drawing/2014/main" val="20013"/>
                    </a:ext>
                  </a:extLst>
                </a:gridCol>
              </a:tblGrid>
              <a:tr h="880000">
                <a:tc>
                  <a:txBody>
                    <a:bodyPr/>
                    <a:lstStyle/>
                    <a:p>
                      <a:endParaRPr/>
                    </a:p>
                  </a:txBody>
                  <a:tcPr marL="45720" marR="45720" anchor="ctr"/>
                </a:tc>
                <a:tc>
                  <a:txBody>
                    <a:bodyPr/>
                    <a:lstStyle/>
                    <a:p>
                      <a:r>
                        <a:rPr lang="en-US" sz="1300" dirty="0">
                          <a:latin typeface="Times New Roman"/>
                          <a:cs typeface="Times New Roman"/>
                        </a:rPr>
                        <a:t>(Oct) Week 43</a:t>
                      </a:r>
                    </a:p>
                  </a:txBody>
                  <a:tcPr marL="45720" marR="45720" anchor="ctr"/>
                </a:tc>
                <a:tc>
                  <a:txBody>
                    <a:bodyPr/>
                    <a:lstStyle/>
                    <a:p>
                      <a:r>
                        <a:rPr lang="en-US" sz="1300" dirty="0">
                          <a:latin typeface="Times New Roman"/>
                          <a:cs typeface="Times New Roman"/>
                        </a:rPr>
                        <a:t>Week 44</a:t>
                      </a:r>
                    </a:p>
                  </a:txBody>
                  <a:tcPr marL="45720" marR="45720" anchor="ctr"/>
                </a:tc>
                <a:tc>
                  <a:txBody>
                    <a:bodyPr/>
                    <a:lstStyle/>
                    <a:p>
                      <a:r>
                        <a:rPr lang="en-US" sz="1300" dirty="0">
                          <a:latin typeface="Times New Roman"/>
                          <a:cs typeface="Times New Roman"/>
                        </a:rPr>
                        <a:t>(Nov) Week 45</a:t>
                      </a:r>
                    </a:p>
                  </a:txBody>
                  <a:tcPr marL="45720" marR="45720" anchor="ctr"/>
                </a:tc>
                <a:tc>
                  <a:txBody>
                    <a:bodyPr/>
                    <a:lstStyle/>
                    <a:p>
                      <a:r>
                        <a:rPr lang="en-US" sz="1300" dirty="0">
                          <a:latin typeface="Times New Roman"/>
                          <a:cs typeface="Times New Roman"/>
                        </a:rPr>
                        <a:t>Week 46</a:t>
                      </a:r>
                    </a:p>
                  </a:txBody>
                  <a:tcPr marL="45720" marR="45720" anchor="ctr"/>
                </a:tc>
                <a:tc>
                  <a:txBody>
                    <a:bodyPr/>
                    <a:lstStyle/>
                    <a:p>
                      <a:r>
                        <a:rPr lang="en-US" sz="1300" dirty="0">
                          <a:latin typeface="Times New Roman"/>
                          <a:cs typeface="Times New Roman"/>
                        </a:rPr>
                        <a:t>Week 47</a:t>
                      </a:r>
                    </a:p>
                  </a:txBody>
                  <a:tcPr marL="45720" marR="45720" anchor="ctr"/>
                </a:tc>
                <a:tc>
                  <a:txBody>
                    <a:bodyPr/>
                    <a:lstStyle/>
                    <a:p>
                      <a:r>
                        <a:rPr lang="en-US" sz="1300" dirty="0">
                          <a:latin typeface="Times New Roman"/>
                          <a:cs typeface="Times New Roman"/>
                        </a:rPr>
                        <a:t>Week 48</a:t>
                      </a:r>
                    </a:p>
                  </a:txBody>
                  <a:tcPr marL="45720" marR="45720" anchor="ctr"/>
                </a:tc>
                <a:tc>
                  <a:txBody>
                    <a:bodyPr/>
                    <a:lstStyle/>
                    <a:p>
                      <a:r>
                        <a:rPr lang="en-US" sz="1300" dirty="0">
                          <a:latin typeface="Times New Roman"/>
                          <a:cs typeface="Times New Roman"/>
                        </a:rPr>
                        <a:t>(Dec) Week 49</a:t>
                      </a:r>
                    </a:p>
                  </a:txBody>
                  <a:tcPr marL="45720" marR="45720" anchor="ctr"/>
                </a:tc>
                <a:tc>
                  <a:txBody>
                    <a:bodyPr/>
                    <a:lstStyle/>
                    <a:p>
                      <a:r>
                        <a:rPr lang="en-US" sz="1300" dirty="0">
                          <a:latin typeface="Times New Roman"/>
                          <a:cs typeface="Times New Roman"/>
                        </a:rPr>
                        <a:t>Week 50</a:t>
                      </a:r>
                    </a:p>
                  </a:txBody>
                  <a:tcPr marL="45720" marR="45720" anchor="ctr"/>
                </a:tc>
                <a:tc>
                  <a:txBody>
                    <a:bodyPr/>
                    <a:lstStyle/>
                    <a:p>
                      <a:r>
                        <a:rPr lang="en-US" sz="1300" dirty="0">
                          <a:latin typeface="Times New Roman"/>
                          <a:cs typeface="Times New Roman"/>
                        </a:rPr>
                        <a:t>Week 51</a:t>
                      </a:r>
                    </a:p>
                  </a:txBody>
                  <a:tcPr marL="45720" marR="45720" anchor="ctr"/>
                </a:tc>
                <a:tc>
                  <a:txBody>
                    <a:bodyPr/>
                    <a:lstStyle/>
                    <a:p>
                      <a:r>
                        <a:rPr lang="en-US" sz="1300" dirty="0">
                          <a:latin typeface="Times New Roman"/>
                          <a:cs typeface="Times New Roman"/>
                        </a:rPr>
                        <a:t>Week 52</a:t>
                      </a:r>
                    </a:p>
                  </a:txBody>
                  <a:tcPr marL="45720" marR="45720" anchor="ctr"/>
                </a:tc>
                <a:tc>
                  <a:txBody>
                    <a:bodyPr/>
                    <a:lstStyle/>
                    <a:p>
                      <a:r>
                        <a:rPr lang="en-US" sz="1300" dirty="0">
                          <a:latin typeface="Times New Roman"/>
                          <a:cs typeface="Times New Roman"/>
                        </a:rPr>
                        <a:t>Week 53</a:t>
                      </a:r>
                    </a:p>
                  </a:txBody>
                  <a:tcPr marL="45720" marR="45720" anchor="ctr"/>
                </a:tc>
                <a:tc>
                  <a:txBody>
                    <a:bodyPr/>
                    <a:lstStyle/>
                    <a:p>
                      <a:r>
                        <a:rPr lang="en-US" sz="1300" dirty="0">
                          <a:latin typeface="Times New Roman"/>
                          <a:cs typeface="Times New Roman"/>
                        </a:rPr>
                        <a:t>(Jan) Week 01</a:t>
                      </a:r>
                    </a:p>
                  </a:txBody>
                  <a:tcPr marL="45720" marR="45720" anchor="ctr"/>
                </a:tc>
                <a:tc>
                  <a:txBody>
                    <a:bodyPr/>
                    <a:lstStyle/>
                    <a:p>
                      <a:r>
                        <a:rPr lang="en-US" sz="1300" dirty="0">
                          <a:latin typeface="Times New Roman"/>
                          <a:cs typeface="Times New Roman"/>
                        </a:rPr>
                        <a:t>Week 02</a:t>
                      </a:r>
                    </a:p>
                  </a:txBody>
                  <a:tcPr marL="45720" marR="45720" anchor="ctr"/>
                </a:tc>
                <a:extLst>
                  <a:ext uri="{0D108BD9-81ED-4DB2-BD59-A6C34878D82A}">
                    <a16:rowId xmlns:a16="http://schemas.microsoft.com/office/drawing/2014/main" val="10000"/>
                  </a:ext>
                </a:extLst>
              </a:tr>
              <a:tr h="760000">
                <a:tc>
                  <a:txBody>
                    <a:bodyPr/>
                    <a:lstStyle/>
                    <a:p>
                      <a:r>
                        <a:rPr lang="en-US" sz="1600" dirty="0">
                          <a:latin typeface="Times New Roman"/>
                          <a:cs typeface="Times New Roman"/>
                        </a:rPr>
                        <a:t>Proposal &amp; literature review</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1"/>
                  </a:ext>
                </a:extLst>
              </a:tr>
              <a:tr h="760000">
                <a:tc>
                  <a:txBody>
                    <a:bodyPr/>
                    <a:lstStyle/>
                    <a:p>
                      <a:r>
                        <a:rPr lang="en-US" sz="1600" dirty="0">
                          <a:latin typeface="Times New Roman"/>
                          <a:cs typeface="Times New Roman"/>
                        </a:rPr>
                        <a:t>PDF extraction + BM25 baseline</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2"/>
                  </a:ext>
                </a:extLst>
              </a:tr>
              <a:tr h="760000">
                <a:tc>
                  <a:txBody>
                    <a:bodyPr/>
                    <a:lstStyle/>
                    <a:p>
                      <a:r>
                        <a:rPr lang="en-US" sz="1600" dirty="0">
                          <a:latin typeface="Times New Roman"/>
                          <a:cs typeface="Times New Roman"/>
                        </a:rPr>
                        <a:t>Embeddings, FAISS, first answers</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3"/>
                  </a:ext>
                </a:extLst>
              </a:tr>
              <a:tr h="760000">
                <a:tc>
                  <a:txBody>
                    <a:bodyPr/>
                    <a:lstStyle/>
                    <a:p>
                      <a:r>
                        <a:rPr lang="en-US" sz="1600" dirty="0">
                          <a:latin typeface="Times New Roman"/>
                          <a:cs typeface="Times New Roman"/>
                        </a:rPr>
                        <a:t>Test set, hybrid search, comparison</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4"/>
                  </a:ext>
                </a:extLst>
              </a:tr>
              <a:tr h="760000">
                <a:tc>
                  <a:txBody>
                    <a:bodyPr/>
                    <a:lstStyle/>
                    <a:p>
                      <a:r>
                        <a:rPr lang="en-US" sz="1600" dirty="0">
                          <a:latin typeface="Times New Roman"/>
                          <a:cs typeface="Times New Roman"/>
                        </a:rPr>
                        <a:t>Demo app, video, evaluation</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5"/>
                  </a:ext>
                </a:extLst>
              </a:tr>
              <a:tr h="760000">
                <a:tc>
                  <a:txBody>
                    <a:bodyPr/>
                    <a:lstStyle/>
                    <a:p>
                      <a:r>
                        <a:rPr lang="en-US" sz="1600" dirty="0">
                          <a:latin typeface="Times New Roman"/>
                          <a:cs typeface="Times New Roman"/>
                        </a:rPr>
                        <a:t>Final report &amp; presentation</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6"/>
                  </a:ext>
                </a:extLst>
              </a:tr>
            </a:tbl>
          </a:graphicData>
        </a:graphic>
      </p:graphicFrame>
      <p:sp>
        <p:nvSpPr>
          <p:cNvPr id="12" name="Bar 12"/>
          <p:cNvSpPr/>
          <p:nvPr/>
        </p:nvSpPr>
        <p:spPr>
          <a:xfrm>
            <a:off x="2593754" y="1920250"/>
            <a:ext cx="2108829" cy="391886"/>
          </a:xfrm>
          <a:prstGeom prst="rect">
            <a:avLst/>
          </a:prstGeom>
          <a:solidFill>
            <a:srgbClr val="1F4E8C"/>
          </a:solidFill>
          <a:ln>
            <a:noFill/>
          </a:ln>
        </p:spPr>
        <p:txBody>
          <a:bodyPr/>
          <a:lstStyle/>
          <a:p>
            <a:endParaRPr lang="en-IN"/>
          </a:p>
        </p:txBody>
      </p:sp>
      <p:sp>
        <p:nvSpPr>
          <p:cNvPr id="13" name="Bar 13"/>
          <p:cNvSpPr/>
          <p:nvPr/>
        </p:nvSpPr>
        <p:spPr>
          <a:xfrm>
            <a:off x="2593754" y="2680250"/>
            <a:ext cx="2108829" cy="391886"/>
          </a:xfrm>
          <a:prstGeom prst="rect">
            <a:avLst/>
          </a:prstGeom>
          <a:solidFill>
            <a:srgbClr val="1F4E8C"/>
          </a:solidFill>
          <a:ln>
            <a:noFill/>
          </a:ln>
        </p:spPr>
        <p:txBody>
          <a:bodyPr/>
          <a:lstStyle/>
          <a:p>
            <a:endParaRPr lang="en-IN"/>
          </a:p>
        </p:txBody>
      </p:sp>
      <p:sp>
        <p:nvSpPr>
          <p:cNvPr id="14" name="Bar 14"/>
          <p:cNvSpPr/>
          <p:nvPr/>
        </p:nvSpPr>
        <p:spPr>
          <a:xfrm>
            <a:off x="4079640" y="3440250"/>
            <a:ext cx="2851772" cy="391886"/>
          </a:xfrm>
          <a:prstGeom prst="rect">
            <a:avLst/>
          </a:prstGeom>
          <a:solidFill>
            <a:srgbClr val="1F4E8C"/>
          </a:solidFill>
          <a:ln>
            <a:noFill/>
          </a:ln>
        </p:spPr>
        <p:txBody>
          <a:bodyPr/>
          <a:lstStyle/>
          <a:p>
            <a:endParaRPr lang="en-IN"/>
          </a:p>
        </p:txBody>
      </p:sp>
      <p:sp>
        <p:nvSpPr>
          <p:cNvPr id="15" name="Bar 15"/>
          <p:cNvSpPr/>
          <p:nvPr/>
        </p:nvSpPr>
        <p:spPr>
          <a:xfrm>
            <a:off x="4822583" y="4200250"/>
            <a:ext cx="3594715" cy="391886"/>
          </a:xfrm>
          <a:prstGeom prst="rect">
            <a:avLst/>
          </a:prstGeom>
          <a:solidFill>
            <a:srgbClr val="1F4E8C"/>
          </a:solidFill>
          <a:ln>
            <a:noFill/>
          </a:ln>
        </p:spPr>
        <p:txBody>
          <a:bodyPr/>
          <a:lstStyle/>
          <a:p>
            <a:endParaRPr lang="en-IN"/>
          </a:p>
        </p:txBody>
      </p:sp>
      <p:sp>
        <p:nvSpPr>
          <p:cNvPr id="16" name="Bar 16"/>
          <p:cNvSpPr/>
          <p:nvPr/>
        </p:nvSpPr>
        <p:spPr>
          <a:xfrm>
            <a:off x="7051412" y="4960250"/>
            <a:ext cx="2851772" cy="391886"/>
          </a:xfrm>
          <a:prstGeom prst="rect">
            <a:avLst/>
          </a:prstGeom>
          <a:solidFill>
            <a:srgbClr val="1F4E8C"/>
          </a:solidFill>
          <a:ln>
            <a:noFill/>
          </a:ln>
        </p:spPr>
        <p:txBody>
          <a:bodyPr/>
          <a:lstStyle/>
          <a:p>
            <a:endParaRPr lang="en-IN"/>
          </a:p>
        </p:txBody>
      </p:sp>
      <p:sp>
        <p:nvSpPr>
          <p:cNvPr id="17" name="Bar 17"/>
          <p:cNvSpPr/>
          <p:nvPr/>
        </p:nvSpPr>
        <p:spPr>
          <a:xfrm>
            <a:off x="8537298" y="5720250"/>
            <a:ext cx="3594715" cy="391886"/>
          </a:xfrm>
          <a:prstGeom prst="rect">
            <a:avLst/>
          </a:prstGeom>
          <a:solidFill>
            <a:srgbClr val="1F4E8C"/>
          </a:solidFill>
          <a:ln>
            <a:noFill/>
          </a:ln>
        </p:spPr>
        <p:txBody>
          <a:bodyPr/>
          <a:lstStyle/>
          <a:p>
            <a:endParaRPr lang="en-IN"/>
          </a:p>
        </p:txBody>
      </p:sp>
      <p:sp>
        <p:nvSpPr>
          <p:cNvPr id="18" name="TextBox 18"/>
          <p:cNvSpPr txBox="1"/>
          <p:nvPr/>
        </p:nvSpPr>
        <p:spPr>
          <a:xfrm>
            <a:off x="209006" y="0"/>
            <a:ext cx="8000000" cy="769441"/>
          </a:xfrm>
          <a:prstGeom prst="rect">
            <a:avLst/>
          </a:prstGeom>
          <a:noFill/>
          <a:ln>
            <a:noFill/>
          </a:ln>
        </p:spPr>
        <p:txBody>
          <a:bodyPr wrap="square" lIns="91440" tIns="45720" rIns="91440" bIns="45720" anchor="ctr">
            <a:normAutofit/>
          </a:bodyPr>
          <a:lstStyle/>
          <a:p>
            <a:pPr marL="0" indent="0" algn="l">
              <a:spcBef>
                <a:spcPts val="0"/>
              </a:spcBef>
              <a:spcAft>
                <a:spcPts val="0"/>
              </a:spcAft>
              <a:buNone/>
            </a:pPr>
            <a:r>
              <a:rPr lang="en-US" sz="3200" b="1" dirty="0">
                <a:latin typeface="Times New Roman"/>
                <a:cs typeface="Times New Roman"/>
              </a:rPr>
              <a:t>Milestones:</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11</a:t>
            </a:fld>
            <a:endParaRPr lang="en-US"/>
          </a:p>
        </p:txBody>
      </p:sp>
    </p:spTree>
  </p:cSld>
  <p:clrMapOvr>
    <a:masterClrMapping/>
  </p:clrMapOvr>
  <p:transition spd="slow">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854" y="313532"/>
            <a:ext cx="8300000" cy="1100000"/>
          </a:xfrm>
        </p:spPr>
        <p:txBody>
          <a:bodyPr>
            <a:normAutofit/>
          </a:bodyPr>
          <a:lstStyle/>
          <a:p>
            <a:r>
              <a:rPr lang="en-US" sz="3200" b="1" dirty="0">
                <a:latin typeface="Times New Roman"/>
                <a:cs typeface="Times New Roman"/>
              </a:rPr>
              <a:t>Safety, Risks &amp; Ethical Checklist:</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479854" y="1600000"/>
            <a:ext cx="11200000" cy="4500000"/>
          </a:xfrm>
          <a:prstGeom prst="rect">
            <a:avLst/>
          </a:prstGeom>
          <a:noFill/>
          <a:ln>
            <a:noFill/>
          </a:ln>
        </p:spPr>
        <p:txBody>
          <a:bodyPr wrap="square" lIns="91440" tIns="45720" rIns="91440" bIns="45720" anchor="t">
            <a:normAutofit/>
          </a:bodyPr>
          <a:lstStyle/>
          <a:p>
            <a:pPr marL="285750" indent="-285750" algn="l">
              <a:spcBef>
                <a:spcPts val="0"/>
              </a:spcBef>
              <a:spcAft>
                <a:spcPts val="1100"/>
              </a:spcAft>
              <a:buFont typeface="Arial"/>
              <a:buChar char="•"/>
            </a:pPr>
            <a:r>
              <a:rPr lang="en-US" sz="2200" dirty="0">
                <a:latin typeface="Times New Roman"/>
                <a:cs typeface="Times New Roman"/>
              </a:rPr>
              <a:t>Decision aid only: official safety procedures always take priority</a:t>
            </a:r>
          </a:p>
          <a:p>
            <a:pPr marL="285750" indent="-285750" algn="l">
              <a:spcBef>
                <a:spcPts val="0"/>
              </a:spcBef>
              <a:spcAft>
                <a:spcPts val="1100"/>
              </a:spcAft>
              <a:buFont typeface="Arial"/>
              <a:buChar char="•"/>
            </a:pPr>
            <a:r>
              <a:rPr lang="en-US" sz="2200" dirty="0">
                <a:latin typeface="Times New Roman"/>
                <a:cs typeface="Times New Roman"/>
              </a:rPr>
              <a:t>Every answer cites its source page; the bot refuses when the answer is not found</a:t>
            </a:r>
          </a:p>
          <a:p>
            <a:pPr marL="285750" indent="-285750" algn="l">
              <a:spcBef>
                <a:spcPts val="0"/>
              </a:spcBef>
              <a:spcAft>
                <a:spcPts val="1100"/>
              </a:spcAft>
              <a:buFont typeface="Arial"/>
              <a:buChar char="•"/>
            </a:pPr>
            <a:r>
              <a:rPr lang="en-US" sz="2200" dirty="0">
                <a:latin typeface="Times New Roman"/>
                <a:cs typeface="Times New Roman"/>
              </a:rPr>
              <a:t>Copyright respected: manuals are linked, never uploaded to GitHub</a:t>
            </a:r>
          </a:p>
          <a:p>
            <a:pPr marL="285750" indent="-285750" algn="l">
              <a:spcBef>
                <a:spcPts val="0"/>
              </a:spcBef>
              <a:spcAft>
                <a:spcPts val="1100"/>
              </a:spcAft>
              <a:buFont typeface="Arial"/>
              <a:buChar char="•"/>
            </a:pPr>
            <a:r>
              <a:rPr lang="en-US" sz="2200" dirty="0">
                <a:latin typeface="Times New Roman"/>
                <a:cs typeface="Times New Roman"/>
              </a:rPr>
              <a:t>No personal data processed; the local model keeps documents on site</a:t>
            </a:r>
          </a:p>
          <a:p>
            <a:pPr marL="285750" indent="-285750" algn="l">
              <a:spcBef>
                <a:spcPts val="0"/>
              </a:spcBef>
              <a:spcAft>
                <a:spcPts val="1100"/>
              </a:spcAft>
              <a:buFont typeface="Arial"/>
              <a:buChar char="•"/>
            </a:pPr>
            <a:r>
              <a:rPr lang="en-US" sz="2200" dirty="0">
                <a:latin typeface="Times New Roman"/>
                <a:cs typeface="Times New Roman"/>
              </a:rPr>
              <a:t>Technical risks: PDF tables extract badly (compare pdfplumber vs. PyMuPDF); slow local inference (use a smaller quantized model)</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12</a:t>
            </a:fld>
            <a:endParaRPr lang="en-US"/>
          </a:p>
        </p:txBody>
      </p:sp>
    </p:spTree>
  </p:cSld>
  <p:clrMapOvr>
    <a:masterClrMapping/>
  </p:clrMapOvr>
  <p:transition spd="slow">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8800" y="313532"/>
            <a:ext cx="8300000" cy="1030286"/>
          </a:xfrm>
        </p:spPr>
        <p:txBody>
          <a:bodyPr>
            <a:normAutofit/>
          </a:bodyPr>
          <a:lstStyle/>
          <a:p>
            <a:r>
              <a:rPr lang="en-US" sz="3600" b="1" dirty="0">
                <a:latin typeface="Times New Roman"/>
                <a:cs typeface="Times New Roman"/>
              </a:rPr>
              <a:t>Expected Outcomes:</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731520" y="1700000"/>
            <a:ext cx="10700000" cy="4300000"/>
          </a:xfrm>
          <a:prstGeom prst="rect">
            <a:avLst/>
          </a:prstGeom>
          <a:noFill/>
          <a:ln>
            <a:noFill/>
          </a:ln>
        </p:spPr>
        <p:txBody>
          <a:bodyPr wrap="square" lIns="91440" tIns="45720" rIns="91440" bIns="45720" anchor="t">
            <a:normAutofit/>
          </a:bodyPr>
          <a:lstStyle/>
          <a:p>
            <a:pPr marL="285750" indent="-285750" algn="l">
              <a:spcBef>
                <a:spcPts val="0"/>
              </a:spcBef>
              <a:spcAft>
                <a:spcPts val="1400"/>
              </a:spcAft>
              <a:buFont typeface="Arial"/>
              <a:buChar char="•"/>
            </a:pPr>
            <a:r>
              <a:rPr lang="en-US" sz="2200" dirty="0">
                <a:latin typeface="Times New Roman"/>
                <a:cs typeface="Times New Roman"/>
              </a:rPr>
              <a:t>Working chatbot over production and logistics manuals that answers with page citations</a:t>
            </a:r>
          </a:p>
          <a:p>
            <a:pPr marL="285750" indent="-285750" algn="l">
              <a:spcBef>
                <a:spcPts val="0"/>
              </a:spcBef>
              <a:spcAft>
                <a:spcPts val="1400"/>
              </a:spcAft>
              <a:buFont typeface="Arial"/>
              <a:buChar char="•"/>
            </a:pPr>
            <a:r>
              <a:rPr lang="en-US" sz="2200" dirty="0">
                <a:latin typeface="Times New Roman"/>
                <a:cs typeface="Times New Roman"/>
              </a:rPr>
              <a:t>Comparison of four approaches on the same 60-question test set</a:t>
            </a:r>
          </a:p>
          <a:p>
            <a:pPr marL="285750" indent="-285750" algn="l">
              <a:spcBef>
                <a:spcPts val="0"/>
              </a:spcBef>
              <a:spcAft>
                <a:spcPts val="1400"/>
              </a:spcAft>
              <a:buFont typeface="Arial"/>
              <a:buChar char="•"/>
            </a:pPr>
            <a:r>
              <a:rPr lang="en-US" sz="2200" dirty="0">
                <a:latin typeface="Times New Roman"/>
                <a:cs typeface="Times New Roman"/>
              </a:rPr>
              <a:t>Error analysis showing which question types fail, and why</a:t>
            </a:r>
          </a:p>
          <a:p>
            <a:pPr marL="285750" indent="-285750" algn="l">
              <a:spcBef>
                <a:spcPts val="0"/>
              </a:spcBef>
              <a:spcAft>
                <a:spcPts val="1400"/>
              </a:spcAft>
              <a:buFont typeface="Arial"/>
              <a:buChar char="•"/>
            </a:pPr>
            <a:r>
              <a:rPr lang="en-US" sz="2200" dirty="0">
                <a:latin typeface="Times New Roman"/>
                <a:cs typeface="Times New Roman"/>
              </a:rPr>
              <a:t>Public GitHub repository, demo video and IEEE-format report</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13</a:t>
            </a:fld>
            <a:endParaRPr lang="en-US"/>
          </a:p>
        </p:txBody>
      </p:sp>
    </p:spTree>
  </p:cSld>
  <p:clrMapOvr>
    <a:masterClrMapping/>
  </p:clrMapOvr>
  <p:transition spd="slow">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9717" y="313532"/>
            <a:ext cx="8300000" cy="1030286"/>
          </a:xfrm>
        </p:spPr>
        <p:txBody>
          <a:bodyPr>
            <a:normAutofit/>
          </a:bodyPr>
          <a:lstStyle/>
          <a:p>
            <a:r>
              <a:rPr lang="en-US" sz="3600" b="1" dirty="0">
                <a:latin typeface="Times New Roman"/>
                <a:cs typeface="Times New Roman"/>
              </a:rPr>
              <a:t>Future Work:</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639717" y="1700000"/>
            <a:ext cx="10800000" cy="4300000"/>
          </a:xfrm>
          <a:prstGeom prst="rect">
            <a:avLst/>
          </a:prstGeom>
          <a:noFill/>
          <a:ln>
            <a:noFill/>
          </a:ln>
        </p:spPr>
        <p:txBody>
          <a:bodyPr wrap="square" lIns="91440" tIns="45720" rIns="91440" bIns="45720" anchor="t">
            <a:normAutofit/>
          </a:bodyPr>
          <a:lstStyle/>
          <a:p>
            <a:pPr marL="285750" indent="-285750" algn="l">
              <a:spcBef>
                <a:spcPts val="0"/>
              </a:spcBef>
              <a:spcAft>
                <a:spcPts val="1400"/>
              </a:spcAft>
              <a:buFont typeface="Arial"/>
              <a:buChar char="•"/>
            </a:pPr>
            <a:r>
              <a:rPr lang="en-US" sz="2200" dirty="0">
                <a:latin typeface="Times New Roman"/>
                <a:cs typeface="Times New Roman"/>
              </a:rPr>
              <a:t>Read images and wiring diagrams in manuals (multimodal RAG)</a:t>
            </a:r>
          </a:p>
          <a:p>
            <a:pPr marL="285750" indent="-285750" algn="l">
              <a:spcBef>
                <a:spcPts val="0"/>
              </a:spcBef>
              <a:spcAft>
                <a:spcPts val="1400"/>
              </a:spcAft>
              <a:buFont typeface="Arial"/>
              <a:buChar char="•"/>
            </a:pPr>
            <a:r>
              <a:rPr lang="en-US" sz="2200" dirty="0">
                <a:latin typeface="Times New Roman"/>
                <a:cs typeface="Times New Roman"/>
              </a:rPr>
              <a:t>Answer German questions from English manuals, and the other way round</a:t>
            </a:r>
          </a:p>
          <a:p>
            <a:pPr marL="285750" indent="-285750" algn="l">
              <a:spcBef>
                <a:spcPts val="0"/>
              </a:spcBef>
              <a:spcAft>
                <a:spcPts val="1400"/>
              </a:spcAft>
              <a:buFont typeface="Arial"/>
              <a:buChar char="•"/>
            </a:pPr>
            <a:r>
              <a:rPr lang="en-US" sz="2200" dirty="0">
                <a:latin typeface="Times New Roman"/>
                <a:cs typeface="Times New Roman"/>
              </a:rPr>
              <a:t>Connect to maintenance logs and MES/ERP data</a:t>
            </a:r>
          </a:p>
          <a:p>
            <a:pPr marL="285750" indent="-285750" algn="l">
              <a:spcBef>
                <a:spcPts val="0"/>
              </a:spcBef>
              <a:spcAft>
                <a:spcPts val="1400"/>
              </a:spcAft>
              <a:buFont typeface="Arial"/>
              <a:buChar char="•"/>
            </a:pPr>
            <a:r>
              <a:rPr lang="en-US" sz="2200" dirty="0">
                <a:latin typeface="Times New Roman"/>
                <a:cs typeface="Times New Roman"/>
              </a:rPr>
              <a:t>Voice input for hands-free use on the shop floor</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14</a:t>
            </a:fld>
            <a:endParaRPr lang="en-US"/>
          </a:p>
        </p:txBody>
      </p:sp>
    </p:spTree>
  </p:cSld>
  <p:clrMapOvr>
    <a:masterClrMapping/>
  </p:clrMapOvr>
  <p:transition spd="slow">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3532"/>
            <a:ext cx="8300000" cy="1030286"/>
          </a:xfrm>
        </p:spPr>
        <p:txBody>
          <a:bodyPr>
            <a:normAutofit/>
          </a:bodyPr>
          <a:lstStyle/>
          <a:p>
            <a:r>
              <a:rPr lang="en-US" sz="3600" b="1" dirty="0">
                <a:latin typeface="Times New Roman"/>
                <a:cs typeface="Times New Roman"/>
              </a:rPr>
              <a:t>Bibliography</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838200" y="1600000"/>
            <a:ext cx="10700000" cy="4500000"/>
          </a:xfrm>
          <a:prstGeom prst="rect">
            <a:avLst/>
          </a:prstGeom>
          <a:noFill/>
          <a:ln>
            <a:noFill/>
          </a:ln>
        </p:spPr>
        <p:txBody>
          <a:bodyPr wrap="square" lIns="91440" tIns="45720" rIns="91440" bIns="45720" anchor="t">
            <a:normAutofit/>
          </a:bodyPr>
          <a:lstStyle/>
          <a:p>
            <a:pPr marL="285750" indent="-285750" algn="l">
              <a:spcBef>
                <a:spcPts val="0"/>
              </a:spcBef>
              <a:spcAft>
                <a:spcPts val="600"/>
              </a:spcAft>
              <a:buFont typeface="Arial"/>
              <a:buChar char="•"/>
            </a:pPr>
            <a:r>
              <a:rPr lang="en-US" sz="1600" dirty="0">
                <a:latin typeface="Times New Roman"/>
                <a:cs typeface="Times New Roman"/>
              </a:rPr>
              <a:t>P. Lewis et al., “Retrieval-Augmented Generation for Knowledge-Intensive NLP Tasks,” NeurIPS, 2020.</a:t>
            </a:r>
          </a:p>
          <a:p>
            <a:pPr marL="285750" indent="-285750" algn="l">
              <a:spcBef>
                <a:spcPts val="0"/>
              </a:spcBef>
              <a:spcAft>
                <a:spcPts val="600"/>
              </a:spcAft>
              <a:buFont typeface="Arial"/>
              <a:buChar char="•"/>
            </a:pPr>
            <a:r>
              <a:rPr lang="en-US" sz="1600" dirty="0">
                <a:latin typeface="Times New Roman"/>
                <a:cs typeface="Times New Roman"/>
              </a:rPr>
              <a:t>Y. Gao et al., “Retrieval-Augmented Generation for Large Language Models: A Survey,” arXiv:2312.10997, 2023.</a:t>
            </a:r>
          </a:p>
          <a:p>
            <a:pPr marL="285750" indent="-285750" algn="l">
              <a:spcBef>
                <a:spcPts val="0"/>
              </a:spcBef>
              <a:spcAft>
                <a:spcPts val="600"/>
              </a:spcAft>
              <a:buFont typeface="Arial"/>
              <a:buChar char="•"/>
            </a:pPr>
            <a:r>
              <a:rPr lang="en-US" sz="1600" dirty="0">
                <a:latin typeface="Times New Roman"/>
                <a:cs typeface="Times New Roman"/>
              </a:rPr>
              <a:t>S. Es et al., “RAGAS: Automated Evaluation of Retrieval Augmented Generation,” EACL (Demos), 2024.</a:t>
            </a:r>
          </a:p>
          <a:p>
            <a:pPr marL="285750" indent="-285750" algn="l">
              <a:spcBef>
                <a:spcPts val="0"/>
              </a:spcBef>
              <a:spcAft>
                <a:spcPts val="600"/>
              </a:spcAft>
              <a:buFont typeface="Arial"/>
              <a:buChar char="•"/>
            </a:pPr>
            <a:r>
              <a:rPr lang="en-US" sz="1600" dirty="0">
                <a:latin typeface="Times New Roman"/>
                <a:cs typeface="Times New Roman"/>
              </a:rPr>
              <a:t>N. Reimers and I. Gurevych, “Sentence-BERT: Sentence Embeddings using Siamese BERT-Networks,” EMNLP, 2019.</a:t>
            </a:r>
          </a:p>
          <a:p>
            <a:pPr marL="285750" indent="-285750" algn="l">
              <a:spcBef>
                <a:spcPts val="0"/>
              </a:spcBef>
              <a:spcAft>
                <a:spcPts val="600"/>
              </a:spcAft>
              <a:buFont typeface="Arial"/>
              <a:buChar char="•"/>
            </a:pPr>
            <a:r>
              <a:rPr lang="en-US" sz="1600" dirty="0">
                <a:latin typeface="Times New Roman"/>
                <a:cs typeface="Times New Roman"/>
              </a:rPr>
              <a:t>J. Johnson, M. Douze and H. Jégou, “Billion-scale similarity search with GPUs,” IEEE Trans. Big Data, 2019.</a:t>
            </a:r>
          </a:p>
          <a:p>
            <a:pPr marL="285750" indent="-285750" algn="l">
              <a:spcBef>
                <a:spcPts val="0"/>
              </a:spcBef>
              <a:spcAft>
                <a:spcPts val="600"/>
              </a:spcAft>
              <a:buFont typeface="Arial"/>
              <a:buChar char="•"/>
            </a:pPr>
            <a:r>
              <a:rPr lang="en-US" sz="1600" dirty="0">
                <a:latin typeface="Times New Roman"/>
                <a:cs typeface="Times New Roman"/>
              </a:rPr>
              <a:t>S. Robertson and H. Zaragoza, “The Probabilistic Relevance Framework: BM25 and Beyond,” Found. Trends Inf. Retr., 2009.</a:t>
            </a:r>
          </a:p>
          <a:p>
            <a:pPr marL="285750" indent="-285750" algn="l">
              <a:spcBef>
                <a:spcPts val="0"/>
              </a:spcBef>
              <a:spcAft>
                <a:spcPts val="600"/>
              </a:spcAft>
              <a:buFont typeface="Arial"/>
              <a:buChar char="•"/>
            </a:pPr>
            <a:r>
              <a:rPr lang="en-US" sz="1600" dirty="0">
                <a:latin typeface="Times New Roman"/>
                <a:cs typeface="Times New Roman"/>
              </a:rPr>
              <a:t>Universal Robots, UR5e User Manual; OSHA, Powered Industrial Trucks (29 CFR 1910.178).</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15</a:t>
            </a:fld>
            <a:endParaRPr lang="en-US"/>
          </a:p>
        </p:txBody>
      </p:sp>
    </p:spTree>
  </p:cSld>
  <p:clrMapOvr>
    <a:masterClrMapping/>
  </p:clrMapOvr>
  <p:transition spd="slow">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TextBox 11"/>
          <p:cNvSpPr txBox="1"/>
          <p:nvPr/>
        </p:nvSpPr>
        <p:spPr>
          <a:xfrm>
            <a:off x="1750978" y="2009332"/>
            <a:ext cx="7693379" cy="1346711"/>
          </a:xfrm>
          <a:prstGeom prst="rect">
            <a:avLst/>
          </a:prstGeom>
          <a:noFill/>
          <a:ln>
            <a:noFill/>
          </a:ln>
        </p:spPr>
        <p:txBody>
          <a:bodyPr wrap="square" lIns="91440" tIns="45720" rIns="91440" bIns="45720" anchor="ctr">
            <a:normAutofit/>
          </a:bodyPr>
          <a:lstStyle/>
          <a:p>
            <a:pPr marL="0" indent="0" algn="ctr">
              <a:spcBef>
                <a:spcPts val="0"/>
              </a:spcBef>
              <a:spcAft>
                <a:spcPts val="0"/>
              </a:spcAft>
              <a:buNone/>
            </a:pPr>
            <a:r>
              <a:rPr lang="en-US" sz="5400" dirty="0">
                <a:latin typeface="Times New Roman"/>
                <a:cs typeface="Times New Roman"/>
              </a:rPr>
              <a:t>Thank You!</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16</a:t>
            </a:fld>
            <a:endParaRPr lang="en-US"/>
          </a:p>
        </p:txBody>
      </p:sp>
      <p:sp>
        <p:nvSpPr>
          <p:cNvPr id="3" name="TextBox 13">
            <a:extLst>
              <a:ext uri="{FF2B5EF4-FFF2-40B4-BE49-F238E27FC236}">
                <a16:creationId xmlns:a16="http://schemas.microsoft.com/office/drawing/2014/main" id="{683E6424-D848-C9E8-2EBF-DB6FAD448249}"/>
              </a:ext>
            </a:extLst>
          </p:cNvPr>
          <p:cNvSpPr txBox="1"/>
          <p:nvPr/>
        </p:nvSpPr>
        <p:spPr>
          <a:xfrm>
            <a:off x="9056798" y="4848668"/>
            <a:ext cx="2743201" cy="523220"/>
          </a:xfrm>
          <a:prstGeom prst="rect">
            <a:avLst/>
          </a:prstGeom>
          <a:noFill/>
          <a:ln>
            <a:noFill/>
          </a:ln>
        </p:spPr>
        <p:txBody>
          <a:bodyPr wrap="square" lIns="91440" tIns="45720" rIns="91440" bIns="45720" anchor="t">
            <a:normAutofit/>
          </a:bodyPr>
          <a:lstStyle/>
          <a:p>
            <a:pPr marL="0" indent="0" algn="l">
              <a:spcBef>
                <a:spcPts val="0"/>
              </a:spcBef>
              <a:spcAft>
                <a:spcPts val="0"/>
              </a:spcAft>
              <a:buNone/>
            </a:pPr>
            <a:r>
              <a:rPr lang="en-US" sz="2000" dirty="0">
                <a:latin typeface="Times New Roman"/>
                <a:cs typeface="Times New Roman"/>
                <a:hlinkClick r:id="rId2"/>
              </a:rPr>
              <a:t>GitHub Repository</a:t>
            </a:r>
          </a:p>
        </p:txBody>
      </p:sp>
    </p:spTree>
  </p:cSld>
  <p:clrMapOvr>
    <a:masterClrMapping/>
  </p:clrMapOvr>
  <p:transition spd="slow">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1651</TotalTime>
  <Words>1361</Words>
  <Application>Microsoft Office PowerPoint</Application>
  <PresentationFormat>Widescreen</PresentationFormat>
  <Paragraphs>235</Paragraphs>
  <Slides>16</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Times New Roman</vt:lpstr>
      <vt:lpstr>Office Theme</vt:lpstr>
      <vt:lpstr>FactoryDocs Assistant: A RAG Chatbot for Production and Logistics Manuals</vt:lpstr>
      <vt:lpstr>Introduction:</vt:lpstr>
      <vt:lpstr>Project Scope:</vt:lpstr>
      <vt:lpstr>Objectives:</vt:lpstr>
      <vt:lpstr>Why not just use Llama or ChatGPT?</vt:lpstr>
      <vt:lpstr>Project flow chart:</vt:lpstr>
      <vt:lpstr>Working Methodology:</vt:lpstr>
      <vt:lpstr>Technology Stack:</vt:lpstr>
      <vt:lpstr>Evaluation KPIs:</vt:lpstr>
      <vt:lpstr>Bill of Materials (BOM):</vt:lpstr>
      <vt:lpstr>PowerPoint Presentation</vt:lpstr>
      <vt:lpstr>Safety, Risks &amp; Ethical Checklist:</vt:lpstr>
      <vt:lpstr>Expected Outcomes:</vt:lpstr>
      <vt:lpstr>Future Work:</vt:lpstr>
      <vt:lpstr>Bibliography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Integration and  Comparision of Vision models for smart inspection cell</dc:title>
  <dc:creator>yaswitha Pallela</dc:creator>
  <cp:lastModifiedBy>SHILPA GOLLA</cp:lastModifiedBy>
  <cp:revision>53</cp:revision>
  <dcterms:created xsi:type="dcterms:W3CDTF">2025-10-13T08:49:29Z</dcterms:created>
  <dcterms:modified xsi:type="dcterms:W3CDTF">2026-10-20T12:11:09Z</dcterms:modified>
</cp:coreProperties>
</file>